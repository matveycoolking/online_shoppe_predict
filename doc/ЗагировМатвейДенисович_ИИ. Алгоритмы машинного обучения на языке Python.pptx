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80" r:id="rId3"/>
    <p:sldId id="277" r:id="rId4"/>
    <p:sldId id="265" r:id="rId5"/>
    <p:sldId id="267" r:id="rId6"/>
    <p:sldId id="268" r:id="rId7"/>
    <p:sldId id="269" r:id="rId8"/>
    <p:sldId id="270" r:id="rId9"/>
    <p:sldId id="286" r:id="rId10"/>
    <p:sldId id="271" r:id="rId11"/>
    <p:sldId id="273" r:id="rId12"/>
    <p:sldId id="282" r:id="rId13"/>
    <p:sldId id="278" r:id="rId14"/>
    <p:sldId id="274" r:id="rId15"/>
    <p:sldId id="283" r:id="rId16"/>
    <p:sldId id="279" r:id="rId17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7" userDrawn="1">
          <p15:clr>
            <a:srgbClr val="A4A3A4"/>
          </p15:clr>
        </p15:guide>
        <p15:guide id="2" pos="574" userDrawn="1">
          <p15:clr>
            <a:srgbClr val="A4A3A4"/>
          </p15:clr>
        </p15:guide>
        <p15:guide id="3" pos="7106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>
      <p:cViewPr varScale="1">
        <p:scale>
          <a:sx n="70" d="100"/>
          <a:sy n="70" d="100"/>
        </p:scale>
        <p:origin x="420" y="56"/>
      </p:cViewPr>
      <p:guideLst>
        <p:guide orient="horz" pos="1207"/>
        <p:guide pos="574"/>
        <p:guide pos="7106"/>
        <p:guide pos="3840"/>
        <p:guide orient="horz" pos="392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D79AF-EB0E-4FDF-9D49-C7DCB37EA06D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200A0-0AF5-4110-9DCF-5EE5836CE4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847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ED4AA372-6A96-47DD-805E-C015AA8C3DB6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F0B5FAB6-39D5-4FDF-86A9-A6853609F403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6EF000E4-E15D-4C45-831D-DFCE7C230E36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D69A5F12-5C8B-4C1A-AB7D-DA8BC0D5FC9B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C772EA4A-DBEE-4461-9CC8-F4ACC24D76E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8AA72D6-5E9E-40BA-9025-E59015FE2A25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AndObj" preserve="1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8A06A4D2-C7D3-4AB7-A69C-5A45409B9F5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AndTwoObj" preserve="1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37D6418-062D-44DF-A032-4ED7A09F31BB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OverTx" preserve="1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3D0EB58E-09F9-41FD-87E0-ADDB04F4D7C8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verTx" preserve="1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9D4EDC22-D933-4D27-BE80-144C99A3E35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fourObj" preserve="1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7C302F91-6E27-465C-AFBE-8DE38869F98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lstStyle/>
          <a:p>
            <a:pPr>
              <a:defRPr/>
            </a:pPr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lstStyle/>
          <a:p>
            <a:pPr>
              <a:defRPr/>
            </a:pPr>
            <a:fld id="{0F271771-34CE-482F-82AA-FF0937B29EDE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12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400" b="0" strike="noStrike" spc="-1">
                <a:latin typeface="Nekst"/>
              </a:defRPr>
            </a:lvl1pPr>
          </a:lstStyle>
          <a:p>
            <a:pPr algn="ctr">
              <a:lnSpc>
                <a:spcPct val="100000"/>
              </a:lnSpc>
              <a:buNone/>
              <a:defRPr/>
            </a:pPr>
            <a:r>
              <a:rPr lang="en-US" sz="1400" b="0" strike="noStrike" spc="-1">
                <a:latin typeface="Nekst"/>
              </a:rPr>
              <a:t>Footer</a:t>
            </a:r>
            <a:endParaRPr lang="ru-RU" sz="1400" b="0" strike="noStrike" spc="-1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396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ru-RU" sz="1400" b="0" strike="noStrike" spc="-1">
                <a:latin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r>
              <a:rPr lang="ru-RU" sz="4400" b="0" strike="noStrike" spc="-1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3200" b="0" strike="noStrike" spc="-1">
                <a:latin typeface="Arial"/>
              </a:rPr>
              <a:t>Click to edit the outline text format</a:t>
            </a:r>
            <a:endParaRPr/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latin typeface="Arial"/>
              </a:rPr>
              <a:t>Second Outline Level</a:t>
            </a:r>
            <a:endParaRPr/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400" b="0" strike="noStrike" spc="-1">
                <a:latin typeface="Arial"/>
              </a:rPr>
              <a:t>Third Outline Level</a:t>
            </a:r>
            <a:endParaRPr/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latin typeface="Arial"/>
              </a:rPr>
              <a:t>Fourth Outline Level</a:t>
            </a:r>
            <a:endParaRPr/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Fifth Outline Level</a:t>
            </a:r>
            <a:endParaRPr/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Sixth Outline Level</a:t>
            </a:r>
            <a:endParaRPr/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latin typeface="Arial"/>
              </a:rPr>
              <a:t>Seventh Outline Level</a:t>
            </a:r>
            <a:endParaRPr/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F0269EF7-D1D9-46F5-A625-AB9C218B463B}"/>
              </a:ext>
            </a:extLst>
          </p:cNvPr>
          <p:cNvGrpSpPr/>
          <p:nvPr userDrawn="1"/>
        </p:nvGrpSpPr>
        <p:grpSpPr>
          <a:xfrm>
            <a:off x="11690604" y="6401668"/>
            <a:ext cx="281940" cy="280670"/>
            <a:chOff x="11690604" y="6435852"/>
            <a:chExt cx="281940" cy="280670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CAF5D3BF-5BF3-4F71-BE75-E6E66741A1E1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41750304-9730-404D-9900-09340A8DA876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ln w="25908">
              <a:solidFill>
                <a:srgbClr val="9CC639"/>
              </a:solidFill>
            </a:ln>
          </p:spPr>
          <p:txBody>
            <a:bodyPr wrap="square" lIns="0" tIns="0" rIns="0" bIns="0" rtlCol="0"/>
            <a:lstStyle/>
            <a:p>
              <a:endParaRPr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 bwMode="auto">
          <a:xfrm>
            <a:off x="11610000" y="6354000"/>
            <a:ext cx="432000" cy="361439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ru-RU" sz="1200" b="1" strike="noStrike" spc="-1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B88E02A3-5676-427E-A487-029D252D15C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171791-5D13-AEFF-09F0-07DBAFC3DF0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>
            <a:extLst>
              <a:ext uri="{FF2B5EF4-FFF2-40B4-BE49-F238E27FC236}">
                <a16:creationId xmlns:a16="http://schemas.microsoft.com/office/drawing/2014/main" id="{0F7A72F9-508F-7A79-7B54-9F168B62CF33}"/>
              </a:ext>
            </a:extLst>
          </p:cNvPr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5D049898-1F3A-1BE8-9004-75EC559C69EE}"/>
              </a:ext>
            </a:extLst>
          </p:cNvPr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F8A7FFCA-9544-6333-F09C-E78C9B05EABD}"/>
              </a:ext>
            </a:extLst>
          </p:cNvPr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5341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0F781-099A-8DB8-6DA7-BAC67F4D4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500" b="1" dirty="0">
                <a:solidFill>
                  <a:srgbClr val="433E4D"/>
                </a:solidFill>
              </a:rPr>
              <a:t>Постановка задачи и анализ предметной области</a:t>
            </a:r>
            <a:br>
              <a:rPr lang="ru-RU" b="1" dirty="0">
                <a:solidFill>
                  <a:srgbClr val="433E4D"/>
                </a:solidFill>
              </a:rPr>
            </a:b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E4F957-51DE-A7F7-4CAB-047E6552398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2</a:t>
            </a:r>
            <a:endParaRPr lang="ru-RU" dirty="0"/>
          </a:p>
        </p:txBody>
      </p:sp>
      <p:sp>
        <p:nvSpPr>
          <p:cNvPr id="6" name="Rounded Rectangle 166">
            <a:extLst>
              <a:ext uri="{FF2B5EF4-FFF2-40B4-BE49-F238E27FC236}">
                <a16:creationId xmlns:a16="http://schemas.microsoft.com/office/drawing/2014/main" id="{13A268C6-1B29-A897-ED21-7E07131FBE33}"/>
              </a:ext>
            </a:extLst>
          </p:cNvPr>
          <p:cNvSpPr/>
          <p:nvPr/>
        </p:nvSpPr>
        <p:spPr bwMode="auto">
          <a:xfrm>
            <a:off x="609480" y="1340768"/>
            <a:ext cx="3246120" cy="4114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 dirty="0" err="1">
                <a:solidFill>
                  <a:srgbClr val="FFFFFF"/>
                </a:solidFill>
                <a:latin typeface="Arial"/>
              </a:rPr>
              <a:t>Предметная</a:t>
            </a:r>
            <a:r>
              <a:rPr sz="175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50" b="1" dirty="0" err="1">
                <a:solidFill>
                  <a:srgbClr val="FFFFFF"/>
                </a:solidFill>
                <a:latin typeface="Arial"/>
              </a:rPr>
              <a:t>область</a:t>
            </a:r>
            <a:endParaRPr sz="175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35BD5-E6A9-8FDA-FC9C-6920A7326BAF}"/>
              </a:ext>
            </a:extLst>
          </p:cNvPr>
          <p:cNvSpPr txBox="1"/>
          <p:nvPr/>
        </p:nvSpPr>
        <p:spPr bwMode="auto">
          <a:xfrm>
            <a:off x="609480" y="1900352"/>
            <a:ext cx="3456432" cy="11704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Интернет-магазин</a:t>
            </a:r>
            <a:r>
              <a:rPr dirty="0"/>
              <a:t> и </a:t>
            </a:r>
            <a:r>
              <a:rPr dirty="0" err="1"/>
              <a:t>пользовательские</a:t>
            </a:r>
            <a:r>
              <a:rPr dirty="0"/>
              <a:t> </a:t>
            </a:r>
            <a:r>
              <a:rPr dirty="0" err="1"/>
              <a:t>сессии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dirty="0"/>
              <a:t>Сессия </a:t>
            </a:r>
            <a:r>
              <a:rPr dirty="0" err="1"/>
              <a:t>описывается</a:t>
            </a:r>
            <a:r>
              <a:rPr dirty="0"/>
              <a:t> </a:t>
            </a:r>
            <a:r>
              <a:rPr dirty="0" err="1"/>
              <a:t>поведением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: </a:t>
            </a:r>
            <a:r>
              <a:rPr dirty="0" err="1"/>
              <a:t>страницы</a:t>
            </a:r>
            <a:r>
              <a:rPr dirty="0"/>
              <a:t>, </a:t>
            </a:r>
            <a:r>
              <a:rPr dirty="0" err="1"/>
              <a:t>длительность</a:t>
            </a:r>
            <a:r>
              <a:rPr dirty="0"/>
              <a:t>, </a:t>
            </a:r>
            <a:r>
              <a:rPr dirty="0" err="1"/>
              <a:t>отказы</a:t>
            </a:r>
            <a:r>
              <a:rPr dirty="0"/>
              <a:t>, </a:t>
            </a:r>
            <a:r>
              <a:rPr dirty="0" err="1"/>
              <a:t>выходы</a:t>
            </a:r>
            <a:r>
              <a:rPr dirty="0"/>
              <a:t>, </a:t>
            </a:r>
            <a:r>
              <a:rPr dirty="0" err="1"/>
              <a:t>месяц</a:t>
            </a:r>
            <a:r>
              <a:rPr dirty="0"/>
              <a:t>, </a:t>
            </a: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посетителя</a:t>
            </a:r>
            <a:r>
              <a:rPr dirty="0"/>
              <a:t>.</a:t>
            </a:r>
          </a:p>
        </p:txBody>
      </p:sp>
      <p:sp>
        <p:nvSpPr>
          <p:cNvPr id="9" name="Rounded Rectangle 168">
            <a:extLst>
              <a:ext uri="{FF2B5EF4-FFF2-40B4-BE49-F238E27FC236}">
                <a16:creationId xmlns:a16="http://schemas.microsoft.com/office/drawing/2014/main" id="{B329BCD4-2F1D-1E5B-23C6-A318595B5A37}"/>
              </a:ext>
            </a:extLst>
          </p:cNvPr>
          <p:cNvSpPr/>
          <p:nvPr/>
        </p:nvSpPr>
        <p:spPr bwMode="auto">
          <a:xfrm>
            <a:off x="4439816" y="1340768"/>
            <a:ext cx="3063240" cy="4114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Бизнес-задача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598C6-7F0A-71CF-C11D-3EDF7758590D}"/>
              </a:ext>
            </a:extLst>
          </p:cNvPr>
          <p:cNvSpPr txBox="1"/>
          <p:nvPr/>
        </p:nvSpPr>
        <p:spPr>
          <a:xfrm>
            <a:off x="4367808" y="1795122"/>
            <a:ext cx="3135248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 параметрам сессии предсказать, завершится ли она покупкой.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Использовать прогноз для персонализации предложений и маркетинговых действий.</a:t>
            </a:r>
          </a:p>
        </p:txBody>
      </p:sp>
      <p:sp>
        <p:nvSpPr>
          <p:cNvPr id="12" name="Rounded Rectangle 170">
            <a:extLst>
              <a:ext uri="{FF2B5EF4-FFF2-40B4-BE49-F238E27FC236}">
                <a16:creationId xmlns:a16="http://schemas.microsoft.com/office/drawing/2014/main" id="{B24DC769-B654-F11C-01B7-7BD4442A416A}"/>
              </a:ext>
            </a:extLst>
          </p:cNvPr>
          <p:cNvSpPr/>
          <p:nvPr/>
        </p:nvSpPr>
        <p:spPr bwMode="auto">
          <a:xfrm>
            <a:off x="8247888" y="1371600"/>
            <a:ext cx="2697480" cy="4114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50" b="1">
                <a:solidFill>
                  <a:srgbClr val="FFFFFF"/>
                </a:solidFill>
                <a:latin typeface="Arial"/>
              </a:rPr>
              <a:t>Тип ML-задачи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E0F03-4693-2E0B-35F7-00E8594AE910}"/>
              </a:ext>
            </a:extLst>
          </p:cNvPr>
          <p:cNvSpPr txBox="1"/>
          <p:nvPr/>
        </p:nvSpPr>
        <p:spPr>
          <a:xfrm>
            <a:off x="8247888" y="1795122"/>
            <a:ext cx="2697480" cy="148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Бинарная классификация.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Target: </a:t>
            </a:r>
            <a:r>
              <a:rPr lang="ru-RU" dirty="0" err="1"/>
              <a:t>Revenue</a:t>
            </a:r>
            <a:r>
              <a:rPr lang="ru-RU" dirty="0"/>
              <a:t>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Классы: 1 — покупка, 0 — нет покупки.</a:t>
            </a:r>
          </a:p>
          <a:p>
            <a:pPr>
              <a:spcAft>
                <a:spcPts val="400"/>
              </a:spcAft>
              <a:defRPr sz="134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Дисбаланс: покупок около 15.47%.</a:t>
            </a:r>
          </a:p>
        </p:txBody>
      </p:sp>
      <p:sp>
        <p:nvSpPr>
          <p:cNvPr id="15" name="Rounded Rectangle 172">
            <a:extLst>
              <a:ext uri="{FF2B5EF4-FFF2-40B4-BE49-F238E27FC236}">
                <a16:creationId xmlns:a16="http://schemas.microsoft.com/office/drawing/2014/main" id="{DFABD811-2A8A-2045-6EFB-85851A6A2D23}"/>
              </a:ext>
            </a:extLst>
          </p:cNvPr>
          <p:cNvSpPr/>
          <p:nvPr/>
        </p:nvSpPr>
        <p:spPr bwMode="auto">
          <a:xfrm>
            <a:off x="609480" y="3586049"/>
            <a:ext cx="3246120" cy="402336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Почему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ML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9A3E8B-563A-B3CB-7260-B3B04AAABE9E}"/>
              </a:ext>
            </a:extLst>
          </p:cNvPr>
          <p:cNvSpPr txBox="1"/>
          <p:nvPr/>
        </p:nvSpPr>
        <p:spPr>
          <a:xfrm>
            <a:off x="684747" y="3975892"/>
            <a:ext cx="2697480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Признаки разнородные и взаимосвязанные.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Модели учитывают нелинейные зависимости.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Нужна вероятность покупки, а не только правило «да/нет».</a:t>
            </a:r>
          </a:p>
        </p:txBody>
      </p:sp>
      <p:sp>
        <p:nvSpPr>
          <p:cNvPr id="18" name="Rounded Rectangle 174">
            <a:extLst>
              <a:ext uri="{FF2B5EF4-FFF2-40B4-BE49-F238E27FC236}">
                <a16:creationId xmlns:a16="http://schemas.microsoft.com/office/drawing/2014/main" id="{26C69984-9268-3D89-2F4C-DD95EEC78F77}"/>
              </a:ext>
            </a:extLst>
          </p:cNvPr>
          <p:cNvSpPr/>
          <p:nvPr/>
        </p:nvSpPr>
        <p:spPr bwMode="auto">
          <a:xfrm>
            <a:off x="4367808" y="3573556"/>
            <a:ext cx="3135248" cy="402336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Ограничения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407073-CC7A-0574-9B01-55757377722F}"/>
              </a:ext>
            </a:extLst>
          </p:cNvPr>
          <p:cNvSpPr txBox="1"/>
          <p:nvPr/>
        </p:nvSpPr>
        <p:spPr>
          <a:xfrm>
            <a:off x="4359424" y="4001367"/>
            <a:ext cx="3135248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Данные исторические: поведение пользователей может меняться.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Прогноз не является гарантией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Нужны мониторинг и переобучение.</a:t>
            </a:r>
          </a:p>
        </p:txBody>
      </p:sp>
      <p:sp>
        <p:nvSpPr>
          <p:cNvPr id="21" name="Rounded Rectangle 176">
            <a:extLst>
              <a:ext uri="{FF2B5EF4-FFF2-40B4-BE49-F238E27FC236}">
                <a16:creationId xmlns:a16="http://schemas.microsoft.com/office/drawing/2014/main" id="{0E35B230-0213-9789-559D-F1BC03119107}"/>
              </a:ext>
            </a:extLst>
          </p:cNvPr>
          <p:cNvSpPr/>
          <p:nvPr/>
        </p:nvSpPr>
        <p:spPr bwMode="auto">
          <a:xfrm>
            <a:off x="8372005" y="3586049"/>
            <a:ext cx="2788920" cy="402336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80" b="1" dirty="0" err="1">
                <a:solidFill>
                  <a:srgbClr val="FFFFFF"/>
                </a:solidFill>
                <a:latin typeface="Arial"/>
              </a:rPr>
              <a:t>Ожидаемый</a:t>
            </a:r>
            <a:r>
              <a:rPr sz="168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680" b="1" dirty="0" err="1">
                <a:solidFill>
                  <a:srgbClr val="FFFFFF"/>
                </a:solidFill>
                <a:latin typeface="Arial"/>
              </a:rPr>
              <a:t>эффект</a:t>
            </a:r>
            <a:endParaRPr sz="168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182A8D-AD3D-9112-606F-E8201053EE23}"/>
              </a:ext>
            </a:extLst>
          </p:cNvPr>
          <p:cNvSpPr txBox="1"/>
          <p:nvPr/>
        </p:nvSpPr>
        <p:spPr>
          <a:xfrm>
            <a:off x="8372005" y="4001367"/>
            <a:ext cx="3135248" cy="1376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Выделение сессий с высокой вероятностью покупки.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Более точные персональные предложения.</a:t>
            </a:r>
          </a:p>
          <a:p>
            <a:pPr>
              <a:spcAft>
                <a:spcPts val="400"/>
              </a:spcAft>
              <a:defRPr sz="1280">
                <a:solidFill>
                  <a:srgbClr val="24232A"/>
                </a:solidFill>
                <a:latin typeface="Arial"/>
              </a:defRPr>
            </a:pPr>
            <a:r>
              <a:rPr lang="ru-RU" dirty="0"/>
              <a:t>Поддержка решений маркетинга на основе данных.</a:t>
            </a:r>
          </a:p>
        </p:txBody>
      </p:sp>
      <p:sp>
        <p:nvSpPr>
          <p:cNvPr id="24" name="Rounded Rectangle 178">
            <a:extLst>
              <a:ext uri="{FF2B5EF4-FFF2-40B4-BE49-F238E27FC236}">
                <a16:creationId xmlns:a16="http://schemas.microsoft.com/office/drawing/2014/main" id="{E4B504AE-1837-8F39-9048-5E3DA59414CA}"/>
              </a:ext>
            </a:extLst>
          </p:cNvPr>
          <p:cNvSpPr/>
          <p:nvPr/>
        </p:nvSpPr>
        <p:spPr bwMode="auto">
          <a:xfrm>
            <a:off x="920708" y="5798663"/>
            <a:ext cx="10012680" cy="32918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60" b="1" dirty="0" err="1">
                <a:solidFill>
                  <a:srgbClr val="433E4D"/>
                </a:solidFill>
                <a:latin typeface="Arial"/>
              </a:rPr>
              <a:t>Итог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: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модель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решает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прикладную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задачу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прогнозирования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покупательского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намерения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может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быть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встроена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в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сервис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1260" b="1" dirty="0" err="1">
                <a:solidFill>
                  <a:srgbClr val="433E4D"/>
                </a:solidFill>
                <a:latin typeface="Arial"/>
              </a:rPr>
              <a:t>интернет-магазина</a:t>
            </a:r>
            <a:r>
              <a:rPr sz="1260" b="1" dirty="0">
                <a:solidFill>
                  <a:srgbClr val="433E4D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218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97343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Сбор, подготовка и анализ данных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3</a:t>
            </a:r>
            <a:endParaRPr lang="ru-RU" dirty="0"/>
          </a:p>
        </p:txBody>
      </p:sp>
      <p:sp>
        <p:nvSpPr>
          <p:cNvPr id="125" name="Rounded Rectangle 124"/>
          <p:cNvSpPr/>
          <p:nvPr/>
        </p:nvSpPr>
        <p:spPr>
          <a:xfrm>
            <a:off x="91440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12 330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1440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строк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063240" y="129844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06324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колонок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212080" y="1298448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21208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пропусков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360920" y="129844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360920" y="197510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входных признаков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32688" y="2880360"/>
            <a:ext cx="4434840" cy="192873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Данные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Источник</a:t>
            </a:r>
            <a:r>
              <a:rPr dirty="0"/>
              <a:t>: UCI Online Shoppers Purchasing Intention Dataset.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—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сессия</a:t>
            </a:r>
            <a:r>
              <a:rPr dirty="0"/>
              <a:t> </a:t>
            </a:r>
            <a:r>
              <a:rPr dirty="0" err="1"/>
              <a:t>интернет-магазина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Файл </a:t>
            </a:r>
            <a:r>
              <a:rPr dirty="0" err="1"/>
              <a:t>проекта</a:t>
            </a:r>
            <a:r>
              <a:rPr dirty="0"/>
              <a:t>: data.csv.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080760" y="2880360"/>
            <a:ext cx="4800600" cy="2240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r>
              <a:rPr sz="2100" b="1" dirty="0" err="1">
                <a:solidFill>
                  <a:srgbClr val="433E4D"/>
                </a:solidFill>
                <a:latin typeface="Arial"/>
              </a:rPr>
              <a:t>Группы</a:t>
            </a:r>
            <a:r>
              <a:rPr sz="21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100" b="1" dirty="0" err="1">
                <a:solidFill>
                  <a:srgbClr val="433E4D"/>
                </a:solidFill>
                <a:latin typeface="Arial"/>
              </a:rPr>
              <a:t>признаков</a:t>
            </a:r>
            <a:endParaRPr sz="2100" b="1" dirty="0">
              <a:solidFill>
                <a:srgbClr val="433E4D"/>
              </a:solidFill>
              <a:latin typeface="Arial"/>
            </a:endParaRP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Числовые</a:t>
            </a:r>
            <a:r>
              <a:rPr dirty="0"/>
              <a:t>: </a:t>
            </a:r>
            <a:r>
              <a:rPr dirty="0" err="1"/>
              <a:t>длительности</a:t>
            </a:r>
            <a:r>
              <a:rPr dirty="0"/>
              <a:t>, </a:t>
            </a:r>
            <a:r>
              <a:rPr dirty="0" err="1"/>
              <a:t>PageValues</a:t>
            </a:r>
            <a:r>
              <a:rPr dirty="0"/>
              <a:t>, </a:t>
            </a:r>
            <a:r>
              <a:rPr dirty="0" err="1"/>
              <a:t>BounceRates</a:t>
            </a:r>
            <a:r>
              <a:rPr dirty="0"/>
              <a:t>, </a:t>
            </a:r>
            <a:r>
              <a:rPr dirty="0" err="1"/>
              <a:t>ExitRates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 err="1"/>
              <a:t>Категориальные</a:t>
            </a:r>
            <a:r>
              <a:rPr dirty="0"/>
              <a:t>: Month, </a:t>
            </a:r>
            <a:r>
              <a:rPr dirty="0" err="1"/>
              <a:t>VisitorType</a:t>
            </a:r>
            <a:r>
              <a:rPr dirty="0"/>
              <a:t>, Weekend, Browser, Region.</a:t>
            </a:r>
          </a:p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dirty="0"/>
              <a:t>Target: Revenue </a:t>
            </a:r>
            <a:r>
              <a:rPr dirty="0" err="1"/>
              <a:t>приведён</a:t>
            </a:r>
            <a:r>
              <a:rPr dirty="0"/>
              <a:t> к 0/1.</a:t>
            </a:r>
          </a:p>
        </p:txBody>
      </p:sp>
    </p:spTree>
    <p:extLst>
      <p:ext uri="{BB962C8B-B14F-4D97-AF65-F5344CB8AC3E}">
        <p14:creationId xmlns:p14="http://schemas.microsoft.com/office/powerpoint/2010/main" val="3571114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EDA: дисбаланс классов и поведенческие признаки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4</a:t>
            </a:r>
            <a:endParaRPr lang="ru-RU" dirty="0"/>
          </a:p>
        </p:txBody>
      </p:sp>
      <p:pic>
        <p:nvPicPr>
          <p:cNvPr id="125" name="Picture 12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24744"/>
            <a:ext cx="4392488" cy="3120978"/>
          </a:xfrm>
          <a:prstGeom prst="rect">
            <a:avLst/>
          </a:prstGeom>
        </p:spPr>
      </p:pic>
      <p:pic>
        <p:nvPicPr>
          <p:cNvPr id="126" name="Picture 125" descr="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137" y="1025766"/>
            <a:ext cx="4657503" cy="3676976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9248640" y="1372785"/>
            <a:ext cx="2743200" cy="2606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24232A"/>
                </a:solidFill>
                <a:latin typeface="Arial"/>
              </a:defRPr>
            </a:pPr>
            <a:r>
              <a:rPr sz="1500" dirty="0" err="1"/>
              <a:t>Покупок</a:t>
            </a:r>
            <a:r>
              <a:rPr sz="1500" dirty="0"/>
              <a:t> </a:t>
            </a:r>
            <a:r>
              <a:rPr sz="1500" dirty="0" err="1"/>
              <a:t>заметно</a:t>
            </a:r>
            <a:r>
              <a:rPr sz="1500" dirty="0"/>
              <a:t> </a:t>
            </a:r>
            <a:r>
              <a:rPr sz="1500" dirty="0" err="1"/>
              <a:t>меньше</a:t>
            </a:r>
            <a:r>
              <a:rPr sz="1500" dirty="0"/>
              <a:t>, </a:t>
            </a:r>
            <a:r>
              <a:rPr sz="1500" dirty="0" err="1"/>
              <a:t>чем</a:t>
            </a:r>
            <a:r>
              <a:rPr sz="1500" dirty="0"/>
              <a:t> </a:t>
            </a:r>
            <a:r>
              <a:rPr sz="1500" dirty="0" err="1"/>
              <a:t>сессий</a:t>
            </a:r>
            <a:r>
              <a:rPr sz="1500" dirty="0"/>
              <a:t> </a:t>
            </a:r>
            <a:r>
              <a:rPr sz="1500" dirty="0" err="1"/>
              <a:t>без</a:t>
            </a:r>
            <a:r>
              <a:rPr sz="1500" dirty="0"/>
              <a:t> </a:t>
            </a:r>
            <a:r>
              <a:rPr sz="1500" dirty="0" err="1"/>
              <a:t>покупки</a:t>
            </a:r>
            <a:r>
              <a:rPr sz="1500" dirty="0"/>
              <a:t>.</a:t>
            </a:r>
          </a:p>
          <a:p>
            <a:r>
              <a:rPr sz="1500" dirty="0"/>
              <a:t>Dummy baseline </a:t>
            </a:r>
            <a:r>
              <a:rPr sz="1500" dirty="0" err="1"/>
              <a:t>даёт</a:t>
            </a:r>
            <a:r>
              <a:rPr sz="1500" dirty="0"/>
              <a:t> accuracy 0.845, </a:t>
            </a:r>
            <a:r>
              <a:rPr sz="1500" dirty="0" err="1"/>
              <a:t>но</a:t>
            </a:r>
            <a:r>
              <a:rPr sz="1500" dirty="0"/>
              <a:t> F1 </a:t>
            </a:r>
            <a:r>
              <a:rPr sz="1500" dirty="0" err="1"/>
              <a:t>для</a:t>
            </a:r>
            <a:r>
              <a:rPr sz="1500" dirty="0"/>
              <a:t> </a:t>
            </a:r>
            <a:r>
              <a:rPr sz="1500" dirty="0" err="1"/>
              <a:t>покупки</a:t>
            </a:r>
            <a:r>
              <a:rPr sz="1500" dirty="0"/>
              <a:t> = 0.</a:t>
            </a:r>
          </a:p>
          <a:p>
            <a:r>
              <a:rPr sz="1500" dirty="0"/>
              <a:t>Accuracy </a:t>
            </a:r>
            <a:r>
              <a:rPr sz="1500" dirty="0" err="1"/>
              <a:t>недостаточно</a:t>
            </a:r>
            <a:r>
              <a:rPr sz="1500" dirty="0"/>
              <a:t>: </a:t>
            </a:r>
            <a:r>
              <a:rPr sz="1500" dirty="0" err="1"/>
              <a:t>важны</a:t>
            </a:r>
            <a:r>
              <a:rPr sz="1500" dirty="0"/>
              <a:t> F1, recall, </a:t>
            </a:r>
            <a:r>
              <a:rPr sz="1500" dirty="0" err="1"/>
              <a:t>balanced_accuracy</a:t>
            </a:r>
            <a:r>
              <a:rPr sz="1500" dirty="0"/>
              <a:t> и PR-AUC.</a:t>
            </a:r>
          </a:p>
          <a:p>
            <a:r>
              <a:rPr sz="1500" dirty="0" err="1"/>
              <a:t>PageValues</a:t>
            </a:r>
            <a:r>
              <a:rPr sz="1500" dirty="0"/>
              <a:t> и </a:t>
            </a:r>
            <a:r>
              <a:rPr sz="1500" dirty="0" err="1"/>
              <a:t>HasPageValue</a:t>
            </a:r>
            <a:r>
              <a:rPr sz="1500" dirty="0"/>
              <a:t> — </a:t>
            </a:r>
            <a:r>
              <a:rPr sz="1500" dirty="0" err="1"/>
              <a:t>самые</a:t>
            </a:r>
            <a:r>
              <a:rPr sz="1500" dirty="0"/>
              <a:t> </a:t>
            </a:r>
            <a:r>
              <a:rPr sz="1500" dirty="0" err="1"/>
              <a:t>сильные</a:t>
            </a:r>
            <a:r>
              <a:rPr sz="1500" dirty="0"/>
              <a:t> </a:t>
            </a:r>
            <a:r>
              <a:rPr sz="1500" dirty="0" err="1"/>
              <a:t>бизнес-признаки</a:t>
            </a:r>
            <a:r>
              <a:rPr sz="1500" dirty="0"/>
              <a:t>.</a:t>
            </a:r>
          </a:p>
          <a:p>
            <a:r>
              <a:rPr sz="1500" dirty="0" err="1"/>
              <a:t>Выбросы</a:t>
            </a:r>
            <a:r>
              <a:rPr sz="1500" dirty="0"/>
              <a:t> </a:t>
            </a:r>
            <a:r>
              <a:rPr sz="1500" dirty="0" err="1"/>
              <a:t>не</a:t>
            </a:r>
            <a:r>
              <a:rPr sz="1500" dirty="0"/>
              <a:t> </a:t>
            </a:r>
            <a:r>
              <a:rPr sz="1500" dirty="0" err="1"/>
              <a:t>удалялись</a:t>
            </a:r>
            <a:r>
              <a:rPr sz="1500" dirty="0"/>
              <a:t>: </a:t>
            </a:r>
            <a:r>
              <a:rPr sz="1500" dirty="0" err="1"/>
              <a:t>длинные</a:t>
            </a:r>
            <a:r>
              <a:rPr sz="1500" dirty="0"/>
              <a:t> </a:t>
            </a:r>
            <a:r>
              <a:rPr sz="1500" dirty="0" err="1"/>
              <a:t>сессии</a:t>
            </a:r>
            <a:r>
              <a:rPr sz="1500" dirty="0"/>
              <a:t> </a:t>
            </a:r>
            <a:r>
              <a:rPr sz="1500" dirty="0" err="1"/>
              <a:t>могут</a:t>
            </a:r>
            <a:r>
              <a:rPr sz="1500" dirty="0"/>
              <a:t> </a:t>
            </a:r>
            <a:r>
              <a:rPr sz="1500" dirty="0" err="1"/>
              <a:t>быть</a:t>
            </a:r>
            <a:r>
              <a:rPr sz="1500" dirty="0"/>
              <a:t> </a:t>
            </a:r>
            <a:r>
              <a:rPr sz="1500" dirty="0" err="1"/>
              <a:t>реальными</a:t>
            </a:r>
            <a:r>
              <a:rPr sz="1500" dirty="0"/>
              <a:t>.</a:t>
            </a:r>
          </a:p>
        </p:txBody>
      </p:sp>
      <p:pic>
        <p:nvPicPr>
          <p:cNvPr id="128" name="Picture 127" descr="pagevalue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4" y="4287972"/>
            <a:ext cx="4757795" cy="2345392"/>
          </a:xfrm>
          <a:prstGeom prst="rect">
            <a:avLst/>
          </a:prstGeom>
        </p:spPr>
      </p:pic>
      <p:pic>
        <p:nvPicPr>
          <p:cNvPr id="129" name="Picture 128" descr="revenue_by_visitor_ty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091" y="4347059"/>
            <a:ext cx="4518071" cy="2227218"/>
          </a:xfrm>
          <a:prstGeom prst="rect">
            <a:avLst/>
          </a:prstGeom>
        </p:spPr>
      </p:pic>
      <p:sp>
        <p:nvSpPr>
          <p:cNvPr id="130" name="Rounded Rectangle 129"/>
          <p:cNvSpPr/>
          <p:nvPr/>
        </p:nvSpPr>
        <p:spPr>
          <a:xfrm>
            <a:off x="9375032" y="4837485"/>
            <a:ext cx="2651760" cy="84124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300" b="1" dirty="0">
                <a:solidFill>
                  <a:srgbClr val="FFFFFF"/>
                </a:solidFill>
                <a:latin typeface="Arial"/>
              </a:rPr>
              <a:t>Доля </a:t>
            </a:r>
            <a:r>
              <a:rPr sz="2300" b="1" dirty="0" err="1">
                <a:solidFill>
                  <a:srgbClr val="FFFFFF"/>
                </a:solidFill>
                <a:latin typeface="Arial"/>
              </a:rPr>
              <a:t>покупок</a:t>
            </a:r>
            <a:r>
              <a:rPr sz="2300" b="1" dirty="0">
                <a:solidFill>
                  <a:srgbClr val="FFFFFF"/>
                </a:solidFill>
                <a:latin typeface="Arial"/>
              </a:rPr>
              <a:t>: 15.47%</a:t>
            </a:r>
          </a:p>
        </p:txBody>
      </p:sp>
    </p:spTree>
    <p:extLst>
      <p:ext uri="{BB962C8B-B14F-4D97-AF65-F5344CB8AC3E}">
        <p14:creationId xmlns:p14="http://schemas.microsoft.com/office/powerpoint/2010/main" val="2988029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>
                <a:solidFill>
                  <a:srgbClr val="433E4D"/>
                </a:solidFill>
                <a:latin typeface="Arial"/>
              </a:rPr>
              <a:t>Baseline-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модель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выбор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методов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5</a:t>
            </a:r>
            <a:endParaRPr lang="ru-RU" dirty="0"/>
          </a:p>
        </p:txBody>
      </p:sp>
      <p:sp>
        <p:nvSpPr>
          <p:cNvPr id="125" name="Rounded Rectangle 124"/>
          <p:cNvSpPr/>
          <p:nvPr/>
        </p:nvSpPr>
        <p:spPr>
          <a:xfrm>
            <a:off x="960120" y="1325880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8755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sz="1500"/>
              <a:t>Logistic Regression</a:t>
            </a:r>
          </a:p>
          <a:p>
            <a:r>
              <a:rPr sz="1500"/>
              <a:t>class_weight="balanced"</a:t>
            </a:r>
          </a:p>
          <a:p>
            <a:r>
              <a:rPr sz="1500"/>
              <a:t>Высокий recall</a:t>
            </a:r>
          </a:p>
          <a:p>
            <a:r>
              <a:rPr sz="1500"/>
              <a:t>Test F1 = 0.6398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26280" y="1325880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Средняя модель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5371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sz="1500"/>
              <a:t>Random Forest</a:t>
            </a:r>
          </a:p>
          <a:p>
            <a:r>
              <a:rPr sz="1500"/>
              <a:t>class_weight="balanced"</a:t>
            </a:r>
          </a:p>
          <a:p>
            <a:r>
              <a:rPr sz="1500"/>
              <a:t>Хороший precision</a:t>
            </a:r>
          </a:p>
          <a:p>
            <a:r>
              <a:rPr sz="1500"/>
              <a:t>Test F1 = 0.6286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92440" y="1325880"/>
            <a:ext cx="2926080" cy="438912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Итоговая модель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119872" y="1901952"/>
            <a:ext cx="3200400" cy="2057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4232A"/>
                </a:solidFill>
                <a:latin typeface="Arial"/>
              </a:defRPr>
            </a:pPr>
            <a:r>
              <a:rPr sz="1500"/>
              <a:t>Random Forest Tuned</a:t>
            </a:r>
          </a:p>
          <a:p>
            <a:r>
              <a:rPr sz="1500"/>
              <a:t>RandomizedSearchCV</a:t>
            </a:r>
          </a:p>
          <a:p>
            <a:r>
              <a:rPr sz="1500"/>
              <a:t>class_weight="balanced"</a:t>
            </a:r>
          </a:p>
          <a:p>
            <a:r>
              <a:rPr sz="1500"/>
              <a:t>Лучший test F1 = 0.6727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60120" y="4572000"/>
            <a:ext cx="9966960" cy="694944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dirty="0" err="1">
                <a:solidFill>
                  <a:schemeClr val="tx1"/>
                </a:solidFill>
              </a:rPr>
              <a:t>Все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модели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обучались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внутри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sklearn</a:t>
            </a:r>
            <a:r>
              <a:rPr sz="1500" dirty="0">
                <a:solidFill>
                  <a:schemeClr val="tx1"/>
                </a:solidFill>
              </a:rPr>
              <a:t> Pipeline: feature engineering + preprocessing + estimator. Backend </a:t>
            </a:r>
            <a:r>
              <a:rPr sz="1500" dirty="0" err="1">
                <a:solidFill>
                  <a:schemeClr val="tx1"/>
                </a:solidFill>
              </a:rPr>
              <a:t>принимает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сырые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данные</a:t>
            </a:r>
            <a:r>
              <a:rPr sz="1500" dirty="0">
                <a:solidFill>
                  <a:schemeClr val="tx1"/>
                </a:solidFill>
              </a:rPr>
              <a:t>, а pipeline </a:t>
            </a:r>
            <a:r>
              <a:rPr sz="1500" dirty="0" err="1">
                <a:solidFill>
                  <a:schemeClr val="tx1"/>
                </a:solidFill>
              </a:rPr>
              <a:t>сам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выполняет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нужные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преобразования</a:t>
            </a:r>
            <a:r>
              <a:rPr sz="15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3215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/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 algn="l">
              <a:buNone/>
              <a:defRPr sz="2700" b="1">
                <a:solidFill>
                  <a:srgbClr val="433E4C"/>
                </a:solidFill>
              </a:defRPr>
            </a:pP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и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финальной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6</a:t>
            </a:r>
            <a:endParaRPr lang="ru-RU" dirty="0"/>
          </a:p>
        </p:txBody>
      </p:sp>
      <p:sp>
        <p:nvSpPr>
          <p:cNvPr id="125" name="Rectangle 124"/>
          <p:cNvSpPr/>
          <p:nvPr/>
        </p:nvSpPr>
        <p:spPr>
          <a:xfrm>
            <a:off x="804672" y="1170432"/>
            <a:ext cx="2743200" cy="384048"/>
          </a:xfrm>
          <a:prstGeom prst="rect">
            <a:avLst/>
          </a:prstGeom>
          <a:solidFill>
            <a:srgbClr val="89C400"/>
          </a:solidFill>
          <a:ln w="1016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Основная метрика: F1-score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730752" y="1170432"/>
            <a:ext cx="3063240" cy="384048"/>
          </a:xfrm>
          <a:prstGeom prst="rect">
            <a:avLst/>
          </a:prstGeom>
          <a:solidFill>
            <a:srgbClr val="433E4C"/>
          </a:solidFill>
          <a:ln w="10160"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200" b="1" dirty="0" err="1">
                <a:solidFill>
                  <a:schemeClr val="bg1"/>
                </a:solidFill>
              </a:rPr>
              <a:t>Доп</a:t>
            </a:r>
            <a:r>
              <a:rPr sz="1200" b="1" dirty="0">
                <a:solidFill>
                  <a:schemeClr val="bg1"/>
                </a:solidFill>
              </a:rPr>
              <a:t>. </a:t>
            </a:r>
            <a:r>
              <a:rPr sz="1200" b="1" dirty="0" err="1">
                <a:solidFill>
                  <a:schemeClr val="bg1"/>
                </a:solidFill>
              </a:rPr>
              <a:t>метрики</a:t>
            </a:r>
            <a:r>
              <a:rPr sz="1200" b="1" dirty="0">
                <a:solidFill>
                  <a:schemeClr val="bg1"/>
                </a:solidFill>
              </a:rPr>
              <a:t>: PR-AUC и balanced accuracy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67728" y="1170432"/>
            <a:ext cx="2965872" cy="384048"/>
          </a:xfrm>
          <a:prstGeom prst="rect">
            <a:avLst/>
          </a:prstGeom>
          <a:solidFill>
            <a:srgbClr val="32C2D7"/>
          </a:solidFill>
          <a:ln w="1016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Дисбаланс: покупок около 15.47%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20000" y="1783080"/>
            <a:ext cx="19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Модель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540000" y="1783080"/>
            <a:ext cx="11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800000" y="1783080"/>
            <a:ext cx="11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b="1" dirty="0">
                <a:solidFill>
                  <a:srgbClr val="FFFFFF"/>
                </a:solidFill>
              </a:rPr>
              <a:t>Balanced</a:t>
            </a:r>
          </a:p>
          <a:p>
            <a:pPr algn="ctr"/>
            <a:r>
              <a:rPr sz="1600" b="1" dirty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60000" y="1783080"/>
            <a:ext cx="11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320000" y="1783080"/>
            <a:ext cx="11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580000" y="1783080"/>
            <a:ext cx="112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840000" y="1783080"/>
            <a:ext cx="1180000" cy="512064"/>
          </a:xfrm>
          <a:prstGeom prst="rect">
            <a:avLst/>
          </a:prstGeom>
          <a:solidFill>
            <a:srgbClr val="0F766E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500" b="1">
                <a:solidFill>
                  <a:srgbClr val="433E4C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PR-AUC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20000" y="2295144"/>
            <a:ext cx="19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rPr sz="1400" b="1" dirty="0">
                <a:solidFill>
                  <a:srgbClr val="1F2937"/>
                </a:solidFill>
              </a:rPr>
              <a:t>Random Forest</a:t>
            </a:r>
          </a:p>
          <a:p>
            <a:pPr algn="ctr"/>
            <a:r>
              <a:rPr sz="1400" b="1" dirty="0">
                <a:solidFill>
                  <a:srgbClr val="1F2937"/>
                </a:solidFill>
              </a:rPr>
              <a:t>Tuned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540000" y="2295144"/>
            <a:ext cx="11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0.898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800000" y="2295144"/>
            <a:ext cx="11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0.808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60000" y="2295144"/>
            <a:ext cx="11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0.668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20000" y="2295144"/>
            <a:ext cx="11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1">
                <a:solidFill>
                  <a:srgbClr val="433E4C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0.678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80000" y="2295144"/>
            <a:ext cx="112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500" b="1">
                <a:solidFill>
                  <a:srgbClr val="2D2D34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0.673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0000" y="2295144"/>
            <a:ext cx="1180000" cy="512064"/>
          </a:xfrm>
          <a:prstGeom prst="rect">
            <a:avLst/>
          </a:prstGeom>
          <a:solidFill>
            <a:srgbClr val="EBF7F4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1">
                <a:solidFill>
                  <a:srgbClr val="1F2937"/>
                </a:solidFill>
              </a:rPr>
              <a:t>0.735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20000" y="2807208"/>
            <a:ext cx="19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400" b="0">
                <a:solidFill>
                  <a:srgbClr val="1F2937"/>
                </a:solidFill>
              </a:rPr>
              <a:t>CatBoost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540000" y="2807208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0.901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800000" y="2807208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0.775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060000" y="2807208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0.720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320000" y="2807208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500" b="1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0.592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80000" y="2807208"/>
            <a:ext cx="112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0.649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40000" y="2807208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0.743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20000" y="3319272"/>
            <a:ext cx="19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400" b="0">
                <a:solidFill>
                  <a:srgbClr val="1F2937"/>
                </a:solidFill>
              </a:rPr>
              <a:t>Logistic</a:t>
            </a:r>
          </a:p>
          <a:p>
            <a:pPr algn="ctr"/>
            <a:r>
              <a:rPr sz="1400" b="0">
                <a:solidFill>
                  <a:srgbClr val="1F2937"/>
                </a:solidFill>
              </a:rPr>
              <a:t>Regression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540000" y="3319272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0.859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800000" y="3319272"/>
            <a:ext cx="118000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>
              <a:defRPr sz="1600" b="0">
                <a:solidFill>
                  <a:srgbClr val="2D2D34"/>
                </a:solidFill>
              </a:defRPr>
            </a:pPr>
            <a:r>
              <a:rPr sz="1600" b="0">
                <a:solidFill>
                  <a:srgbClr val="1F2937"/>
                </a:solidFill>
              </a:rPr>
              <a:t>0.838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04672" y="3977639"/>
            <a:ext cx="32461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32688" y="4050791"/>
            <a:ext cx="29900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Почему выбрана RF Tuned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32688" y="4361687"/>
            <a:ext cx="29900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rPr sz="1100" b="0">
                <a:solidFill>
                  <a:srgbClr val="1F2937"/>
                </a:solidFill>
              </a:rPr>
              <a:t>Лучший test F1-score и высокий PR-AUC. Модель даёт лучший баланс между поиском покупок и ложными срабатываниями.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279392" y="3977639"/>
            <a:ext cx="32461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407408" y="4050791"/>
            <a:ext cx="29900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Почему не CatBoost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407408" y="4361687"/>
            <a:ext cx="29900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rPr sz="1100" b="0">
                <a:solidFill>
                  <a:srgbClr val="1F2937"/>
                </a:solidFill>
              </a:rPr>
              <a:t>CatBoost имеет лучший PR-AUC, но ниже recall и F1, поэтому не выбран финальным по основной метрике.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754112" y="3977639"/>
            <a:ext cx="2788920" cy="1143000"/>
          </a:xfrm>
          <a:prstGeom prst="rect">
            <a:avLst/>
          </a:prstGeom>
          <a:solidFill>
            <a:srgbClr val="F8FBFC"/>
          </a:solidFill>
          <a:ln w="13970"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7882128" y="4050791"/>
            <a:ext cx="2532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433E4C"/>
                </a:solidFill>
              </a:defRPr>
            </a:pPr>
            <a:r>
              <a:t>Baseline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882128" y="4361687"/>
            <a:ext cx="2532888" cy="704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2D2D34"/>
                </a:solidFill>
              </a:defRPr>
            </a:pPr>
            <a:r>
              <a:rPr sz="1100" b="0" dirty="0">
                <a:solidFill>
                  <a:srgbClr val="1F2937"/>
                </a:solidFill>
              </a:rPr>
              <a:t>Logistic Regression </a:t>
            </a:r>
            <a:r>
              <a:rPr sz="1100" b="0" dirty="0" err="1">
                <a:solidFill>
                  <a:srgbClr val="1F2937"/>
                </a:solidFill>
              </a:rPr>
              <a:t>даёт</a:t>
            </a:r>
            <a:r>
              <a:rPr sz="1100" b="0" dirty="0">
                <a:solidFill>
                  <a:srgbClr val="1F2937"/>
                </a:solidFill>
              </a:rPr>
              <a:t> </a:t>
            </a:r>
            <a:r>
              <a:rPr sz="1100" b="0" dirty="0" err="1">
                <a:solidFill>
                  <a:srgbClr val="1F2937"/>
                </a:solidFill>
              </a:rPr>
              <a:t>высокий</a:t>
            </a:r>
            <a:r>
              <a:rPr sz="1100" b="0" dirty="0">
                <a:solidFill>
                  <a:srgbClr val="1F2937"/>
                </a:solidFill>
              </a:rPr>
              <a:t> recall и balanced accuracy, </a:t>
            </a:r>
            <a:r>
              <a:rPr sz="1100" b="0" dirty="0" err="1">
                <a:solidFill>
                  <a:srgbClr val="1F2937"/>
                </a:solidFill>
              </a:rPr>
              <a:t>но</a:t>
            </a:r>
            <a:r>
              <a:rPr sz="1100" b="0" dirty="0">
                <a:solidFill>
                  <a:srgbClr val="1F2937"/>
                </a:solidFill>
              </a:rPr>
              <a:t> </a:t>
            </a:r>
            <a:r>
              <a:rPr sz="1100" b="0" dirty="0" err="1">
                <a:solidFill>
                  <a:srgbClr val="1F2937"/>
                </a:solidFill>
              </a:rPr>
              <a:t>слишком</a:t>
            </a:r>
            <a:r>
              <a:rPr sz="1100" b="0" dirty="0">
                <a:solidFill>
                  <a:srgbClr val="1F2937"/>
                </a:solidFill>
              </a:rPr>
              <a:t> </a:t>
            </a:r>
            <a:r>
              <a:rPr sz="1100" b="0" dirty="0" err="1">
                <a:solidFill>
                  <a:srgbClr val="1F2937"/>
                </a:solidFill>
              </a:rPr>
              <a:t>много</a:t>
            </a:r>
            <a:r>
              <a:rPr sz="1100" b="0" dirty="0">
                <a:solidFill>
                  <a:srgbClr val="1F2937"/>
                </a:solidFill>
              </a:rPr>
              <a:t> </a:t>
            </a:r>
            <a:r>
              <a:rPr sz="1100" b="0" dirty="0" err="1">
                <a:solidFill>
                  <a:srgbClr val="1F2937"/>
                </a:solidFill>
              </a:rPr>
              <a:t>ложных</a:t>
            </a:r>
            <a:r>
              <a:rPr sz="1100" b="0" dirty="0">
                <a:solidFill>
                  <a:srgbClr val="1F2937"/>
                </a:solidFill>
              </a:rPr>
              <a:t> </a:t>
            </a:r>
            <a:r>
              <a:rPr sz="1100" b="0" dirty="0" err="1">
                <a:solidFill>
                  <a:srgbClr val="1F2937"/>
                </a:solidFill>
              </a:rPr>
              <a:t>срабатываний</a:t>
            </a:r>
            <a:r>
              <a:rPr sz="1100" b="0" dirty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14400" y="5504688"/>
            <a:ext cx="9692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433E4C"/>
                </a:solidFill>
              </a:defRPr>
            </a:pPr>
            <a:r>
              <a:rPr sz="1200" b="0" dirty="0" err="1">
                <a:solidFill>
                  <a:srgbClr val="1F2937"/>
                </a:solidFill>
              </a:rPr>
              <a:t>Вывод</a:t>
            </a:r>
            <a:r>
              <a:rPr sz="1200" b="0" dirty="0">
                <a:solidFill>
                  <a:srgbClr val="1F2937"/>
                </a:solidFill>
              </a:rPr>
              <a:t>: </a:t>
            </a:r>
            <a:r>
              <a:rPr sz="1200" b="0" dirty="0" err="1">
                <a:solidFill>
                  <a:srgbClr val="1F2937"/>
                </a:solidFill>
              </a:rPr>
              <a:t>из-за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дисбаланса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классов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модель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сравнивается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не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только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по</a:t>
            </a:r>
            <a:r>
              <a:rPr sz="1200" b="0" dirty="0">
                <a:solidFill>
                  <a:srgbClr val="1F2937"/>
                </a:solidFill>
              </a:rPr>
              <a:t> accuracy, </a:t>
            </a:r>
            <a:r>
              <a:rPr sz="1200" b="0" dirty="0" err="1">
                <a:solidFill>
                  <a:srgbClr val="1F2937"/>
                </a:solidFill>
              </a:rPr>
              <a:t>но</a:t>
            </a:r>
            <a:r>
              <a:rPr sz="1200" b="0" dirty="0">
                <a:solidFill>
                  <a:srgbClr val="1F2937"/>
                </a:solidFill>
              </a:rPr>
              <a:t> и </a:t>
            </a:r>
            <a:r>
              <a:rPr sz="1200" b="0" dirty="0" err="1">
                <a:solidFill>
                  <a:srgbClr val="1F2937"/>
                </a:solidFill>
              </a:rPr>
              <a:t>по</a:t>
            </a:r>
            <a:r>
              <a:rPr sz="1200" b="0" dirty="0">
                <a:solidFill>
                  <a:srgbClr val="1F2937"/>
                </a:solidFill>
              </a:rPr>
              <a:t> F1, PR-AUC и balanced accuracy. </a:t>
            </a:r>
            <a:r>
              <a:rPr sz="1200" b="0" dirty="0" err="1">
                <a:solidFill>
                  <a:srgbClr val="1F2937"/>
                </a:solidFill>
              </a:rPr>
              <a:t>Финальная</a:t>
            </a:r>
            <a:r>
              <a:rPr sz="1200" b="0" dirty="0">
                <a:solidFill>
                  <a:srgbClr val="1F2937"/>
                </a:solidFill>
              </a:rPr>
              <a:t> RF Tuned </a:t>
            </a:r>
            <a:r>
              <a:rPr sz="1200" b="0" dirty="0" err="1">
                <a:solidFill>
                  <a:srgbClr val="1F2937"/>
                </a:solidFill>
              </a:rPr>
              <a:t>выбрана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по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лучшему</a:t>
            </a:r>
            <a:r>
              <a:rPr sz="1200" b="0" dirty="0">
                <a:solidFill>
                  <a:srgbClr val="1F2937"/>
                </a:solidFill>
              </a:rPr>
              <a:t> F1-score </a:t>
            </a:r>
            <a:r>
              <a:rPr sz="1200" b="0" dirty="0" err="1">
                <a:solidFill>
                  <a:srgbClr val="1F2937"/>
                </a:solidFill>
              </a:rPr>
              <a:t>на</a:t>
            </a:r>
            <a:r>
              <a:rPr sz="1200" b="0" dirty="0">
                <a:solidFill>
                  <a:srgbClr val="1F2937"/>
                </a:solidFill>
              </a:rPr>
              <a:t> test.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060000" y="3319272"/>
            <a:ext cx="1180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sz="1600" b="0">
                <a:solidFill>
                  <a:srgbClr val="1F2937"/>
                </a:solidFill>
              </a:rPr>
              <a:t>0.529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320000" y="3319272"/>
            <a:ext cx="1180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sz="1600" b="0">
                <a:solidFill>
                  <a:srgbClr val="1F2937"/>
                </a:solidFill>
              </a:rPr>
              <a:t>0.809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80000" y="3319272"/>
            <a:ext cx="1120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sz="1600" b="0">
                <a:solidFill>
                  <a:srgbClr val="1F2937"/>
                </a:solidFill>
              </a:rPr>
              <a:t>0.640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840000" y="3319272"/>
            <a:ext cx="1180000" cy="512064"/>
          </a:xfrm>
          <a:prstGeom prst="rect">
            <a:avLst/>
          </a:prstGeom>
          <a:solidFill>
            <a:srgbClr val="FFFFFF"/>
          </a:solidFill>
          <a:ln>
            <a:solidFill>
              <a:srgbClr val="B9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sz="1600" b="0">
                <a:solidFill>
                  <a:srgbClr val="1F2937"/>
                </a:solidFill>
              </a:rPr>
              <a:t>0.659</a:t>
            </a:r>
          </a:p>
        </p:txBody>
      </p:sp>
    </p:spTree>
    <p:extLst>
      <p:ext uri="{BB962C8B-B14F-4D97-AF65-F5344CB8AC3E}">
        <p14:creationId xmlns:p14="http://schemas.microsoft.com/office/powerpoint/2010/main" val="134837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272568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Качество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модели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корректность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валидации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7</a:t>
            </a:r>
            <a:endParaRPr lang="ru-RU" dirty="0"/>
          </a:p>
        </p:txBody>
      </p:sp>
      <p:sp>
        <p:nvSpPr>
          <p:cNvPr id="125" name="TextBox 124"/>
          <p:cNvSpPr txBox="1"/>
          <p:nvPr/>
        </p:nvSpPr>
        <p:spPr>
          <a:xfrm>
            <a:off x="932688" y="1325880"/>
            <a:ext cx="438912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rPr sz="1400"/>
              <a:t>Схема проверки</a:t>
            </a:r>
            <a:endParaRPr sz="2020" b="1" dirty="0">
              <a:solidFill>
                <a:srgbClr val="433E4D"/>
              </a:solidFill>
              <a:latin typeface="Arial"/>
            </a:endParaRPr>
          </a:p>
          <a:p>
            <a:r>
              <a:rPr sz="1400"/>
              <a:t>Train/test: 80/20 со stratify по Revenue.</a:t>
            </a:r>
          </a:p>
          <a:p>
            <a:r>
              <a:rPr sz="1400"/>
              <a:t>Preprocessing обучается только на train внутри Pipeline.</a:t>
            </a:r>
          </a:p>
          <a:p>
            <a:r>
              <a:rPr sz="1400"/>
              <a:t>Основной критерий: F1-score; дополнительные: PR-AUC, balanced_accuracy, ROC-AUC.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811896" y="1401666"/>
            <a:ext cx="1920240" cy="56692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t>Random Forest Tuned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811896" y="225205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0.898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811896" y="292871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Accuracy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006456" y="225205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0.673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06456" y="292871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F1-score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811896" y="3715098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0.925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11896" y="439175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ROC-AUC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006456" y="371509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0.678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006456" y="4391754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0">
                <a:solidFill>
                  <a:srgbClr val="433E4D"/>
                </a:solidFill>
                <a:latin typeface="Arial"/>
              </a:rPr>
              <a:t>Recall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919835" y="4767929"/>
            <a:ext cx="1867942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dirty="0" err="1">
                <a:solidFill>
                  <a:schemeClr val="tx1"/>
                </a:solidFill>
              </a:rPr>
              <a:t>Истинно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отрицательный</a:t>
            </a:r>
            <a:endParaRPr sz="1500" dirty="0">
              <a:solidFill>
                <a:schemeClr val="tx1"/>
              </a:solidFill>
            </a:endParaRPr>
          </a:p>
          <a:p>
            <a:pPr algn="ctr"/>
            <a:r>
              <a:rPr sz="1500" dirty="0">
                <a:solidFill>
                  <a:schemeClr val="tx1"/>
                </a:solidFill>
              </a:rPr>
              <a:t>1955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924937" y="4767929"/>
            <a:ext cx="2027346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dirty="0" err="1">
                <a:solidFill>
                  <a:schemeClr val="tx1"/>
                </a:solidFill>
              </a:rPr>
              <a:t>Ложно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положительный</a:t>
            </a:r>
            <a:endParaRPr sz="1500" dirty="0">
              <a:solidFill>
                <a:schemeClr val="tx1"/>
              </a:solidFill>
            </a:endParaRPr>
          </a:p>
          <a:p>
            <a:pPr algn="ctr"/>
            <a:r>
              <a:rPr sz="1500" dirty="0">
                <a:solidFill>
                  <a:schemeClr val="tx1"/>
                </a:solidFill>
              </a:rPr>
              <a:t>129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919835" y="5565281"/>
            <a:ext cx="1867942" cy="72674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dirty="0" err="1">
                <a:solidFill>
                  <a:schemeClr val="tx1"/>
                </a:solidFill>
              </a:rPr>
              <a:t>Ложно</a:t>
            </a:r>
            <a:r>
              <a:rPr sz="1500" dirty="0">
                <a:solidFill>
                  <a:schemeClr val="tx1"/>
                </a:solidFill>
              </a:rPr>
              <a:t> </a:t>
            </a:r>
            <a:r>
              <a:rPr sz="1500" dirty="0" err="1">
                <a:solidFill>
                  <a:schemeClr val="tx1"/>
                </a:solidFill>
              </a:rPr>
              <a:t>отрицательный</a:t>
            </a:r>
            <a:endParaRPr sz="1500" dirty="0">
              <a:solidFill>
                <a:schemeClr val="tx1"/>
              </a:solidFill>
            </a:endParaRPr>
          </a:p>
          <a:p>
            <a:pPr algn="ctr"/>
            <a:r>
              <a:rPr sz="1500" dirty="0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924937" y="5565281"/>
            <a:ext cx="2027346" cy="726742"/>
          </a:xfrm>
          <a:prstGeom prst="roundRect">
            <a:avLst/>
          </a:prstGeom>
          <a:solidFill>
            <a:srgbClr val="89C400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dirty="0" err="1"/>
              <a:t>Истинно</a:t>
            </a:r>
            <a:r>
              <a:rPr sz="1500" b="1" dirty="0"/>
              <a:t> </a:t>
            </a:r>
            <a:r>
              <a:rPr sz="1500" b="1" dirty="0" err="1"/>
              <a:t>положительный</a:t>
            </a:r>
            <a:endParaRPr sz="1500" b="1" dirty="0"/>
          </a:p>
          <a:p>
            <a:pPr algn="ctr"/>
            <a:r>
              <a:rPr sz="1500" b="1" dirty="0"/>
              <a:t>259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FA6F4-0E02-DD1F-DDDD-943172CA462D}"/>
              </a:ext>
            </a:extLst>
          </p:cNvPr>
          <p:cNvSpPr txBox="1"/>
          <p:nvPr/>
        </p:nvSpPr>
        <p:spPr>
          <a:xfrm>
            <a:off x="3687968" y="4391754"/>
            <a:ext cx="204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Матрица Ошибок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5304" y="3125610"/>
            <a:ext cx="3022384" cy="157704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08432" y="3190889"/>
            <a:ext cx="3776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rPr dirty="0"/>
              <a:t>Cross-validation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33847" y="3546234"/>
            <a:ext cx="37764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sz="1300"/>
              <a:t>F1 = 0.685 ± 0.016</a:t>
            </a:r>
          </a:p>
          <a:p>
            <a:r>
              <a:rPr sz="1300"/>
              <a:t>ROC-AUC = 0.930 ± 0.004</a:t>
            </a:r>
          </a:p>
          <a:p>
            <a:r>
              <a:rPr sz="1300"/>
              <a:t>PR-AUC = 0.746 ± 0.012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04224" y="4913800"/>
            <a:ext cx="4507992" cy="14402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550528" y="5023528"/>
            <a:ext cx="4215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Переобучение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550528" y="5416720"/>
            <a:ext cx="42153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sz="1300" dirty="0"/>
              <a:t>Train F1 = 0.947, test F1 = 0.673, gap = 0.274.</a:t>
            </a:r>
          </a:p>
          <a:p>
            <a:r>
              <a:rPr sz="1300" dirty="0" err="1"/>
              <a:t>Есть</a:t>
            </a:r>
            <a:r>
              <a:rPr sz="1300" dirty="0"/>
              <a:t> </a:t>
            </a:r>
            <a:r>
              <a:rPr sz="1300" dirty="0" err="1"/>
              <a:t>переобучение</a:t>
            </a:r>
            <a:r>
              <a:rPr sz="1300" dirty="0"/>
              <a:t>, </a:t>
            </a:r>
            <a:r>
              <a:rPr sz="1300" dirty="0" err="1"/>
              <a:t>поэтому</a:t>
            </a:r>
            <a:r>
              <a:rPr sz="1300" dirty="0"/>
              <a:t> </a:t>
            </a:r>
            <a:r>
              <a:rPr sz="1300" dirty="0" err="1"/>
              <a:t>проверены</a:t>
            </a:r>
            <a:r>
              <a:rPr sz="1300" dirty="0"/>
              <a:t> </a:t>
            </a:r>
            <a:r>
              <a:rPr sz="1300" dirty="0" err="1"/>
              <a:t>регуляризация</a:t>
            </a:r>
            <a:r>
              <a:rPr sz="1300" dirty="0"/>
              <a:t>, resampling и threshold tuning.</a:t>
            </a:r>
          </a:p>
        </p:txBody>
      </p:sp>
    </p:spTree>
    <p:extLst>
      <p:ext uri="{BB962C8B-B14F-4D97-AF65-F5344CB8AC3E}">
        <p14:creationId xmlns:p14="http://schemas.microsoft.com/office/powerpoint/2010/main" val="412594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C94986-E5F0-4938-05C1-EF36579BF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80" y="35137"/>
            <a:ext cx="10972440" cy="1144800"/>
          </a:xfrm>
        </p:spPr>
        <p:txBody>
          <a:bodyPr/>
          <a:lstStyle/>
          <a:p>
            <a:r>
              <a:rPr lang="ru-RU" dirty="0"/>
              <a:t>Борьба с дисбалансом классов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FBE21D-1AE9-AAD5-CA3B-C91AE104F19D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>
              <a:defRPr/>
            </a:pPr>
            <a:fld id="{F0B5FAB6-39D5-4FDF-86A9-A6853609F403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25CCD061-20DA-767B-A0C3-7999AFAE9F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121971"/>
              </p:ext>
            </p:extLst>
          </p:nvPr>
        </p:nvGraphicFramePr>
        <p:xfrm>
          <a:off x="695400" y="1898208"/>
          <a:ext cx="47091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train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0.908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0.989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0.947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0.992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test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0.668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2937"/>
                          </a:solidFill>
                        </a:rPr>
                        <a:t>0.673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0.735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gap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42318"/>
                          </a:solidFill>
                        </a:rPr>
                        <a:t>+0.240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42318"/>
                          </a:solidFill>
                        </a:rPr>
                        <a:t>+0.311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42318"/>
                          </a:solidFill>
                        </a:rPr>
                        <a:t>+0.274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B42318"/>
                          </a:solidFill>
                        </a:rPr>
                        <a:t>+0.257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1DAC86F-52EC-2B4E-7FEB-CB1F34AEB73D}"/>
              </a:ext>
            </a:extLst>
          </p:cNvPr>
          <p:cNvSpPr/>
          <p:nvPr/>
        </p:nvSpPr>
        <p:spPr>
          <a:xfrm>
            <a:off x="786840" y="3297240"/>
            <a:ext cx="457200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CD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sz="1200" b="0" dirty="0" err="1">
                <a:solidFill>
                  <a:srgbClr val="1F2937"/>
                </a:solidFill>
              </a:rPr>
              <a:t>Интерпретация</a:t>
            </a:r>
            <a:r>
              <a:rPr sz="1200" b="0" dirty="0">
                <a:solidFill>
                  <a:srgbClr val="1F2937"/>
                </a:solidFill>
              </a:rPr>
              <a:t>: </a:t>
            </a:r>
            <a:r>
              <a:rPr sz="1200" b="0" dirty="0" err="1">
                <a:solidFill>
                  <a:srgbClr val="1F2937"/>
                </a:solidFill>
              </a:rPr>
              <a:t>модель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хорошо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запоминает</a:t>
            </a:r>
            <a:r>
              <a:rPr sz="1200" b="0" dirty="0">
                <a:solidFill>
                  <a:srgbClr val="1F2937"/>
                </a:solidFill>
              </a:rPr>
              <a:t> train, </a:t>
            </a:r>
            <a:r>
              <a:rPr sz="1200" b="0" dirty="0" err="1">
                <a:solidFill>
                  <a:srgbClr val="1F2937"/>
                </a:solidFill>
              </a:rPr>
              <a:t>но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на</a:t>
            </a:r>
            <a:r>
              <a:rPr sz="1200" b="0" dirty="0">
                <a:solidFill>
                  <a:srgbClr val="1F2937"/>
                </a:solidFill>
              </a:rPr>
              <a:t> test F1 </a:t>
            </a:r>
            <a:r>
              <a:rPr sz="1200" b="0" dirty="0" err="1">
                <a:solidFill>
                  <a:srgbClr val="1F2937"/>
                </a:solidFill>
              </a:rPr>
              <a:t>падает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на</a:t>
            </a:r>
            <a:r>
              <a:rPr sz="1200" b="0" dirty="0">
                <a:solidFill>
                  <a:srgbClr val="1F2937"/>
                </a:solidFill>
              </a:rPr>
              <a:t> 0.274. </a:t>
            </a:r>
            <a:r>
              <a:rPr sz="1200" b="0" dirty="0" err="1">
                <a:solidFill>
                  <a:srgbClr val="1F2937"/>
                </a:solidFill>
              </a:rPr>
              <a:t>Это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признак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переобучения</a:t>
            </a:r>
            <a:r>
              <a:rPr sz="1200" b="0" dirty="0">
                <a:solidFill>
                  <a:srgbClr val="1F2937"/>
                </a:solidFill>
              </a:rPr>
              <a:t>, </a:t>
            </a:r>
            <a:r>
              <a:rPr sz="1200" b="0" dirty="0" err="1">
                <a:solidFill>
                  <a:srgbClr val="1F2937"/>
                </a:solidFill>
              </a:rPr>
              <a:t>поэтому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были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проверены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дополнительные</a:t>
            </a:r>
            <a:r>
              <a:rPr sz="1200" b="0" dirty="0">
                <a:solidFill>
                  <a:srgbClr val="1F2937"/>
                </a:solidFill>
              </a:rPr>
              <a:t> </a:t>
            </a:r>
            <a:r>
              <a:rPr sz="1200" b="0" dirty="0" err="1">
                <a:solidFill>
                  <a:srgbClr val="1F2937"/>
                </a:solidFill>
              </a:rPr>
              <a:t>варианты</a:t>
            </a:r>
            <a:r>
              <a:rPr sz="1200" b="0" dirty="0">
                <a:solidFill>
                  <a:srgbClr val="1F2937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866C8D-BDF1-69B6-11D8-1AA82FB45F6A}"/>
              </a:ext>
            </a:extLst>
          </p:cNvPr>
          <p:cNvSpPr txBox="1"/>
          <p:nvPr/>
        </p:nvSpPr>
        <p:spPr>
          <a:xfrm>
            <a:off x="5724600" y="1121221"/>
            <a:ext cx="5303520" cy="274320"/>
          </a:xfrm>
          <a:prstGeom prst="rect">
            <a:avLst/>
          </a:prstGeom>
          <a:noFill/>
        </p:spPr>
        <p:txBody>
          <a:bodyPr wrap="none" lIns="76200" tIns="50800" rIns="76200" bIns="50800">
            <a:spAutoFit/>
          </a:bodyPr>
          <a:lstStyle/>
          <a:p>
            <a:r>
              <a:rPr sz="1300" b="1" dirty="0">
                <a:solidFill>
                  <a:srgbClr val="0B5C56"/>
                </a:solidFill>
              </a:rPr>
              <a:t>2. </a:t>
            </a:r>
            <a:r>
              <a:rPr sz="1300" b="1" dirty="0" err="1">
                <a:solidFill>
                  <a:srgbClr val="0B5C56"/>
                </a:solidFill>
              </a:rPr>
              <a:t>Что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проверили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после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замечания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про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дисбаланс</a:t>
            </a:r>
            <a:endParaRPr sz="1300" b="1" dirty="0">
              <a:solidFill>
                <a:srgbClr val="0B5C56"/>
              </a:solidFill>
            </a:endParaRPr>
          </a:p>
        </p:txBody>
      </p:sp>
      <p:graphicFrame>
        <p:nvGraphicFramePr>
          <p:cNvPr id="19" name="Table 8">
            <a:extLst>
              <a:ext uri="{FF2B5EF4-FFF2-40B4-BE49-F238E27FC236}">
                <a16:creationId xmlns:a16="http://schemas.microsoft.com/office/drawing/2014/main" id="{0FD51049-A105-9258-4B2F-D658D6E55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974557"/>
              </p:ext>
            </p:extLst>
          </p:nvPr>
        </p:nvGraphicFramePr>
        <p:xfrm>
          <a:off x="5724600" y="1445832"/>
          <a:ext cx="6348062" cy="2418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5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3667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</a:rPr>
                        <a:t>Эксперимент</a:t>
                      </a:r>
                      <a:endParaRPr sz="1400" b="1" dirty="0">
                        <a:solidFill>
                          <a:srgbClr val="FFFFFF"/>
                        </a:solidFill>
                      </a:endParaRP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Prec.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Вывод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667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1F2937"/>
                          </a:solidFill>
                        </a:rPr>
                        <a:t>RF Tuned</a:t>
                      </a:r>
                    </a:p>
                    <a:p>
                      <a:pPr algn="ctr"/>
                      <a:r>
                        <a:rPr sz="1400" b="1" dirty="0" err="1">
                          <a:solidFill>
                            <a:srgbClr val="1F2937"/>
                          </a:solidFill>
                        </a:rPr>
                        <a:t>финал</a:t>
                      </a:r>
                      <a:endParaRPr sz="1400" b="1" dirty="0">
                        <a:solidFill>
                          <a:srgbClr val="1F2937"/>
                        </a:solidFill>
                      </a:endParaRP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0.668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0.678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</a:rPr>
                        <a:t>0.673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129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123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</a:rPr>
                        <a:t>лучший F1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66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RF Regular.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0.561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0.791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236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80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60A0"/>
                          </a:solidFill>
                        </a:rPr>
                        <a:t>gap 0.056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66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SMOTE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0.770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0.650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228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60A0"/>
                          </a:solidFill>
                        </a:rPr>
                        <a:t>recall ↑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667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Threshold 0.45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0.712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155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110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E60A0"/>
                          </a:solidFill>
                        </a:rPr>
                        <a:t>recall ↑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DDE060C-6EC7-F825-D485-E049E5E6A556}"/>
              </a:ext>
            </a:extLst>
          </p:cNvPr>
          <p:cNvSpPr txBox="1"/>
          <p:nvPr/>
        </p:nvSpPr>
        <p:spPr>
          <a:xfrm>
            <a:off x="695400" y="4092768"/>
            <a:ext cx="4709160" cy="274320"/>
          </a:xfrm>
          <a:prstGeom prst="rect">
            <a:avLst/>
          </a:prstGeom>
          <a:noFill/>
        </p:spPr>
        <p:txBody>
          <a:bodyPr wrap="none" lIns="76200" tIns="50800" rIns="76200" bIns="50800">
            <a:spAutoFit/>
          </a:bodyPr>
          <a:lstStyle/>
          <a:p>
            <a:r>
              <a:rPr sz="1300" b="1">
                <a:solidFill>
                  <a:srgbClr val="0B5C56"/>
                </a:solidFill>
              </a:rPr>
              <a:t>3. Threshold tuning: почему не меняем финальный порог</a:t>
            </a:r>
          </a:p>
        </p:txBody>
      </p:sp>
      <p:graphicFrame>
        <p:nvGraphicFramePr>
          <p:cNvPr id="21" name="Table 10">
            <a:extLst>
              <a:ext uri="{FF2B5EF4-FFF2-40B4-BE49-F238E27FC236}">
                <a16:creationId xmlns:a16="http://schemas.microsoft.com/office/drawing/2014/main" id="{519FAE98-C61A-C8AE-BD46-6FCC5B435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071370"/>
              </p:ext>
            </p:extLst>
          </p:nvPr>
        </p:nvGraphicFramePr>
        <p:xfrm>
          <a:off x="695400" y="4394520"/>
          <a:ext cx="4709160" cy="109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FP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FN</a:t>
                      </a:r>
                    </a:p>
                  </a:txBody>
                  <a:tcPr marL="25400" marR="25400" marT="12700" marB="12700"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0.50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0.668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0.678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0.673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129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</a:rPr>
                        <a:t>123</a:t>
                      </a:r>
                    </a:p>
                  </a:txBody>
                  <a:tcPr marL="25400" marR="25400" marT="12700" marB="12700">
                    <a:solidFill>
                      <a:srgbClr val="EB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0.45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0.707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0.667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</a:rPr>
                        <a:t>157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F2937"/>
                          </a:solidFill>
                        </a:rPr>
                        <a:t>112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787692B0-1C77-C6C1-29D3-1FA343F92321}"/>
              </a:ext>
            </a:extLst>
          </p:cNvPr>
          <p:cNvSpPr/>
          <p:nvPr/>
        </p:nvSpPr>
        <p:spPr>
          <a:xfrm>
            <a:off x="700920" y="5442336"/>
            <a:ext cx="4657920" cy="785368"/>
          </a:xfrm>
          <a:prstGeom prst="roundRect">
            <a:avLst/>
          </a:prstGeom>
          <a:solidFill>
            <a:srgbClr val="F8FAFC"/>
          </a:solidFill>
          <a:ln>
            <a:solidFill>
              <a:srgbClr val="CD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sz="1400" b="0" dirty="0">
                <a:solidFill>
                  <a:srgbClr val="1F2937"/>
                </a:solidFill>
              </a:rPr>
              <a:t>0.45 </a:t>
            </a:r>
            <a:r>
              <a:rPr sz="1400" b="0" dirty="0" err="1">
                <a:solidFill>
                  <a:srgbClr val="1F2937"/>
                </a:solidFill>
              </a:rPr>
              <a:t>на</a:t>
            </a:r>
            <a:r>
              <a:rPr sz="1400" b="0" dirty="0">
                <a:solidFill>
                  <a:srgbClr val="1F2937"/>
                </a:solidFill>
              </a:rPr>
              <a:t> validation </a:t>
            </a:r>
            <a:r>
              <a:rPr sz="1400" b="0" dirty="0" err="1">
                <a:solidFill>
                  <a:srgbClr val="1F2937"/>
                </a:solidFill>
              </a:rPr>
              <a:t>выглядел</a:t>
            </a:r>
            <a:r>
              <a:rPr sz="1400" b="0" dirty="0">
                <a:solidFill>
                  <a:srgbClr val="1F2937"/>
                </a:solidFill>
              </a:rPr>
              <a:t> </a:t>
            </a:r>
            <a:r>
              <a:rPr sz="1400" b="0" dirty="0" err="1">
                <a:solidFill>
                  <a:srgbClr val="1F2937"/>
                </a:solidFill>
              </a:rPr>
              <a:t>лучше</a:t>
            </a:r>
            <a:r>
              <a:rPr sz="1400" b="0" dirty="0">
                <a:solidFill>
                  <a:srgbClr val="1F2937"/>
                </a:solidFill>
              </a:rPr>
              <a:t>, </a:t>
            </a:r>
            <a:r>
              <a:rPr sz="1400" b="0" dirty="0" err="1">
                <a:solidFill>
                  <a:srgbClr val="1F2937"/>
                </a:solidFill>
              </a:rPr>
              <a:t>но</a:t>
            </a:r>
            <a:r>
              <a:rPr sz="1400" b="0" dirty="0">
                <a:solidFill>
                  <a:srgbClr val="1F2937"/>
                </a:solidFill>
              </a:rPr>
              <a:t> </a:t>
            </a:r>
            <a:r>
              <a:rPr sz="1400" b="0" dirty="0" err="1">
                <a:solidFill>
                  <a:srgbClr val="1F2937"/>
                </a:solidFill>
              </a:rPr>
              <a:t>на</a:t>
            </a:r>
            <a:r>
              <a:rPr sz="1400" b="0" dirty="0">
                <a:solidFill>
                  <a:srgbClr val="1F2937"/>
                </a:solidFill>
              </a:rPr>
              <a:t> test F1 </a:t>
            </a:r>
            <a:r>
              <a:rPr sz="1400" b="0" dirty="0" err="1">
                <a:solidFill>
                  <a:srgbClr val="1F2937"/>
                </a:solidFill>
              </a:rPr>
              <a:t>ниже</a:t>
            </a:r>
            <a:r>
              <a:rPr sz="1400" b="0" dirty="0">
                <a:solidFill>
                  <a:srgbClr val="1F2937"/>
                </a:solidFill>
              </a:rPr>
              <a:t>. CV-</a:t>
            </a:r>
            <a:r>
              <a:rPr sz="1400" b="0" dirty="0" err="1">
                <a:solidFill>
                  <a:srgbClr val="1F2937"/>
                </a:solidFill>
              </a:rPr>
              <a:t>подбор</a:t>
            </a:r>
            <a:r>
              <a:rPr sz="1400" b="0" dirty="0">
                <a:solidFill>
                  <a:srgbClr val="1F2937"/>
                </a:solidFill>
              </a:rPr>
              <a:t> </a:t>
            </a:r>
            <a:r>
              <a:rPr sz="1400" b="0" dirty="0" err="1">
                <a:solidFill>
                  <a:srgbClr val="1F2937"/>
                </a:solidFill>
              </a:rPr>
              <a:t>дал</a:t>
            </a:r>
            <a:r>
              <a:rPr sz="1400" b="0" dirty="0">
                <a:solidFill>
                  <a:srgbClr val="1F2937"/>
                </a:solidFill>
              </a:rPr>
              <a:t> </a:t>
            </a:r>
            <a:r>
              <a:rPr sz="1400" b="0" dirty="0" err="1">
                <a:solidFill>
                  <a:srgbClr val="1F2937"/>
                </a:solidFill>
              </a:rPr>
              <a:t>медианный</a:t>
            </a:r>
            <a:r>
              <a:rPr sz="1400" b="0" dirty="0">
                <a:solidFill>
                  <a:srgbClr val="1F2937"/>
                </a:solidFill>
              </a:rPr>
              <a:t> FINAL_THRESHOLD = 0.50.</a:t>
            </a:r>
          </a:p>
        </p:txBody>
      </p:sp>
      <p:sp>
        <p:nvSpPr>
          <p:cNvPr id="25" name="Rounded Rectangle 14">
            <a:extLst>
              <a:ext uri="{FF2B5EF4-FFF2-40B4-BE49-F238E27FC236}">
                <a16:creationId xmlns:a16="http://schemas.microsoft.com/office/drawing/2014/main" id="{E238EFA6-1A27-8B35-657E-A2DA77FC436D}"/>
              </a:ext>
            </a:extLst>
          </p:cNvPr>
          <p:cNvSpPr/>
          <p:nvPr/>
        </p:nvSpPr>
        <p:spPr>
          <a:xfrm>
            <a:off x="5801504" y="3853160"/>
            <a:ext cx="5896584" cy="1448048"/>
          </a:xfrm>
          <a:prstGeom prst="roundRect">
            <a:avLst/>
          </a:prstGeom>
          <a:solidFill>
            <a:srgbClr val="F8FAFC"/>
          </a:solidFill>
          <a:ln>
            <a:solidFill>
              <a:srgbClr val="CD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ru-RU" sz="1400" b="0" dirty="0">
                <a:solidFill>
                  <a:srgbClr val="1F2937"/>
                </a:solidFill>
              </a:rPr>
              <a:t>Боролся с </a:t>
            </a:r>
            <a:r>
              <a:rPr lang="ru-RU" sz="1400" b="0" dirty="0" err="1">
                <a:solidFill>
                  <a:srgbClr val="1F2937"/>
                </a:solidFill>
              </a:rPr>
              <a:t>дисбланасам</a:t>
            </a:r>
            <a:r>
              <a:rPr lang="ru-RU" sz="1400" b="0" dirty="0">
                <a:solidFill>
                  <a:srgbClr val="1F2937"/>
                </a:solidFill>
              </a:rPr>
              <a:t> </a:t>
            </a:r>
            <a:r>
              <a:rPr lang="ru-RU" sz="1400" b="0" dirty="0" err="1">
                <a:solidFill>
                  <a:srgbClr val="1F2937"/>
                </a:solidFill>
              </a:rPr>
              <a:t>трямя</a:t>
            </a:r>
            <a:r>
              <a:rPr lang="ru-RU" sz="1400" b="0" dirty="0">
                <a:solidFill>
                  <a:srgbClr val="1F2937"/>
                </a:solidFill>
              </a:rPr>
              <a:t> методами</a:t>
            </a:r>
          </a:p>
          <a:p>
            <a:r>
              <a:rPr lang="ru-RU" sz="1400" dirty="0">
                <a:solidFill>
                  <a:srgbClr val="1F2937"/>
                </a:solidFill>
              </a:rPr>
              <a:t>1. Регуляризация я ограничил сложность деревьев</a:t>
            </a:r>
          </a:p>
          <a:p>
            <a:r>
              <a:rPr lang="ru-RU" sz="1400" dirty="0">
                <a:solidFill>
                  <a:srgbClr val="1F2937"/>
                </a:solidFill>
              </a:rPr>
              <a:t>2. </a:t>
            </a:r>
            <a:r>
              <a:rPr lang="en-US" sz="1400" dirty="0">
                <a:solidFill>
                  <a:srgbClr val="1F2937"/>
                </a:solidFill>
              </a:rPr>
              <a:t>Resampling </a:t>
            </a:r>
            <a:r>
              <a:rPr lang="ru-RU" sz="1400" dirty="0">
                <a:solidFill>
                  <a:srgbClr val="1F2937"/>
                </a:solidFill>
              </a:rPr>
              <a:t>в который входит </a:t>
            </a:r>
            <a:r>
              <a:rPr lang="ru-RU" sz="1400" dirty="0" err="1">
                <a:solidFill>
                  <a:srgbClr val="1F2937"/>
                </a:solidFill>
              </a:rPr>
              <a:t>увелечение</a:t>
            </a:r>
            <a:r>
              <a:rPr lang="ru-RU" sz="1400" dirty="0">
                <a:solidFill>
                  <a:srgbClr val="1F2937"/>
                </a:solidFill>
              </a:rPr>
              <a:t> редкого класс. Создание </a:t>
            </a:r>
            <a:r>
              <a:rPr lang="ru-RU" sz="1400" dirty="0" err="1">
                <a:solidFill>
                  <a:srgbClr val="1F2937"/>
                </a:solidFill>
              </a:rPr>
              <a:t>новыйх</a:t>
            </a:r>
            <a:r>
              <a:rPr lang="ru-RU" sz="1400" dirty="0">
                <a:solidFill>
                  <a:srgbClr val="1F2937"/>
                </a:solidFill>
              </a:rPr>
              <a:t> синтетических примеров покупок. Уменьшение большого класса </a:t>
            </a:r>
          </a:p>
          <a:p>
            <a:r>
              <a:rPr lang="ru-RU" sz="1400" b="0" dirty="0">
                <a:solidFill>
                  <a:srgbClr val="1F2937"/>
                </a:solidFill>
              </a:rPr>
              <a:t>3. Я снижал порог классификации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9B94F7-B653-1378-75D7-DD2C26F0F413}"/>
              </a:ext>
            </a:extLst>
          </p:cNvPr>
          <p:cNvSpPr txBox="1"/>
          <p:nvPr/>
        </p:nvSpPr>
        <p:spPr>
          <a:xfrm>
            <a:off x="812460" y="1574928"/>
            <a:ext cx="4709160" cy="274320"/>
          </a:xfrm>
          <a:prstGeom prst="rect">
            <a:avLst/>
          </a:prstGeom>
          <a:noFill/>
        </p:spPr>
        <p:txBody>
          <a:bodyPr wrap="none" lIns="76200" tIns="50800" rIns="76200" bIns="50800">
            <a:spAutoFit/>
          </a:bodyPr>
          <a:lstStyle/>
          <a:p>
            <a:r>
              <a:rPr sz="1300" b="1" dirty="0">
                <a:solidFill>
                  <a:srgbClr val="0B5C56"/>
                </a:solidFill>
              </a:rPr>
              <a:t>1. </a:t>
            </a:r>
            <a:r>
              <a:rPr sz="1300" b="1" dirty="0" err="1">
                <a:solidFill>
                  <a:srgbClr val="0B5C56"/>
                </a:solidFill>
              </a:rPr>
              <a:t>Диагностика</a:t>
            </a:r>
            <a:r>
              <a:rPr sz="1300" b="1" dirty="0">
                <a:solidFill>
                  <a:srgbClr val="0B5C56"/>
                </a:solidFill>
              </a:rPr>
              <a:t> </a:t>
            </a:r>
            <a:r>
              <a:rPr sz="1300" b="1" dirty="0" err="1">
                <a:solidFill>
                  <a:srgbClr val="0B5C56"/>
                </a:solidFill>
              </a:rPr>
              <a:t>переобучения</a:t>
            </a:r>
            <a:r>
              <a:rPr sz="1300" b="1" dirty="0">
                <a:solidFill>
                  <a:srgbClr val="0B5C56"/>
                </a:solidFill>
              </a:rPr>
              <a:t>: train / test / gap</a:t>
            </a: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53DA438A-8FDF-A5E1-3B73-2435BE8CB01C}"/>
              </a:ext>
            </a:extLst>
          </p:cNvPr>
          <p:cNvSpPr/>
          <p:nvPr/>
        </p:nvSpPr>
        <p:spPr>
          <a:xfrm>
            <a:off x="6240016" y="5442336"/>
            <a:ext cx="4657920" cy="785368"/>
          </a:xfrm>
          <a:prstGeom prst="roundRect">
            <a:avLst/>
          </a:prstGeom>
          <a:solidFill>
            <a:srgbClr val="F8FAFC"/>
          </a:solidFill>
          <a:ln>
            <a:solidFill>
              <a:srgbClr val="CD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ru-RU" sz="1400" b="0" dirty="0">
                <a:solidFill>
                  <a:srgbClr val="1F2937"/>
                </a:solidFill>
              </a:rPr>
              <a:t>Итог</a:t>
            </a:r>
          </a:p>
          <a:p>
            <a:pPr algn="ctr"/>
            <a:r>
              <a:rPr lang="ru-RU" sz="1400" dirty="0">
                <a:solidFill>
                  <a:srgbClr val="1F2937"/>
                </a:solidFill>
              </a:rPr>
              <a:t>Модель с переобучением показывает результаты лучше</a:t>
            </a:r>
            <a:endParaRPr sz="1400" b="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792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876512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>
                <a:solidFill>
                  <a:srgbClr val="433E4D"/>
                </a:solidFill>
                <a:latin typeface="Arial"/>
              </a:rPr>
              <a:t>Интерпретация результатов и прикладные выводы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9</a:t>
            </a:r>
            <a:endParaRPr lang="ru-RU" dirty="0"/>
          </a:p>
        </p:txBody>
      </p:sp>
      <p:pic>
        <p:nvPicPr>
          <p:cNvPr id="125" name="Picture 124" descr="exitrate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3" y="1510100"/>
            <a:ext cx="4376478" cy="2895209"/>
          </a:xfrm>
          <a:prstGeom prst="rect">
            <a:avLst/>
          </a:prstGeom>
        </p:spPr>
      </p:pic>
      <p:pic>
        <p:nvPicPr>
          <p:cNvPr id="126" name="Picture 125" descr="bouncerate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371" y="1425780"/>
            <a:ext cx="4522057" cy="2991515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8909082" y="1527623"/>
            <a:ext cx="3291840" cy="20116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  <a:latin typeface="Arial"/>
              </a:defRPr>
            </a:pPr>
            <a:r>
              <a:rPr sz="1400"/>
              <a:t>Top feature importance</a:t>
            </a:r>
          </a:p>
          <a:p>
            <a:r>
              <a:rPr sz="1400"/>
              <a:t>PageValues — 0.218</a:t>
            </a:r>
          </a:p>
          <a:p>
            <a:r>
              <a:rPr sz="1400"/>
              <a:t>HasPageValue — 0.210</a:t>
            </a:r>
          </a:p>
          <a:p>
            <a:r>
              <a:rPr sz="1400"/>
              <a:t>ExitRates — 0.058</a:t>
            </a:r>
          </a:p>
          <a:p>
            <a:r>
              <a:rPr sz="1400"/>
              <a:t>TotalDuration — 0.051</a:t>
            </a:r>
          </a:p>
          <a:p>
            <a:r>
              <a:rPr sz="1400"/>
              <a:t>ProductRelated_Duration — 0.047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04544" y="4560303"/>
            <a:ext cx="2926080" cy="438912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Анализ ошибок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50264" y="5108944"/>
            <a:ext cx="420624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  <a:latin typeface="Arial"/>
              </a:defRPr>
            </a:pPr>
            <a:r>
              <a:rPr sz="1400"/>
              <a:t>False Negative: реальные покупатели, которых модель не нашла.</a:t>
            </a:r>
          </a:p>
          <a:p>
            <a:r>
              <a:rPr sz="1400"/>
              <a:t>False Positive: лишнее маркетинговое действие.</a:t>
            </a:r>
          </a:p>
          <a:p>
            <a:r>
              <a:rPr sz="1400"/>
              <a:t>Threshold 0.45 повышает recall, но на test не улучшает F1 относительно 0.50.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379722" y="4450574"/>
            <a:ext cx="2926080" cy="438912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Практический вывод</a:t>
            </a:r>
            <a:endParaRPr sz="19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5425442" y="4999215"/>
            <a:ext cx="4526280" cy="584775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E2E34"/>
                </a:solidFill>
                <a:latin typeface="Arial"/>
              </a:defRPr>
            </a:pPr>
            <a:r>
              <a:rPr sz="1400"/>
              <a:t>Модель опирается на поведение пользователя: ценность страниц, выходы, длительность и активность на товарах.</a:t>
            </a:r>
          </a:p>
          <a:p>
            <a:r>
              <a:rPr sz="1400"/>
              <a:t>Прогноз лучше использовать как дополнительный сигнал для персонализации.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197520" y="6534719"/>
            <a:ext cx="841248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200" b="0">
                <a:solidFill>
                  <a:srgbClr val="2E2E34"/>
                </a:solidFill>
              </a:defRPr>
            </a:pPr>
            <a:r>
              <a:rPr dirty="0" err="1"/>
              <a:t>Интерпретация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: </a:t>
            </a:r>
            <a:r>
              <a:rPr dirty="0" err="1"/>
              <a:t>важнее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технические</a:t>
            </a:r>
            <a:r>
              <a:rPr dirty="0"/>
              <a:t> </a:t>
            </a:r>
            <a:r>
              <a:rPr dirty="0" err="1"/>
              <a:t>поля</a:t>
            </a:r>
            <a:r>
              <a:rPr dirty="0"/>
              <a:t>, а </a:t>
            </a:r>
            <a:r>
              <a:rPr dirty="0" err="1"/>
              <a:t>действия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 в </a:t>
            </a:r>
            <a:r>
              <a:rPr dirty="0" err="1"/>
              <a:t>сессии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0540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386318"/>
            <a:ext cx="8453160" cy="843308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Использование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современных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инструментов</a:t>
            </a:r>
            <a:r>
              <a:rPr sz="2500" b="1" dirty="0">
                <a:solidFill>
                  <a:srgbClr val="433E4D"/>
                </a:solidFill>
                <a:latin typeface="Arial"/>
              </a:rPr>
              <a:t> и </a:t>
            </a:r>
            <a:r>
              <a:rPr sz="2500" b="1" dirty="0" err="1">
                <a:solidFill>
                  <a:srgbClr val="433E4D"/>
                </a:solidFill>
                <a:latin typeface="Arial"/>
              </a:rPr>
              <a:t>сервисов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10</a:t>
            </a:r>
            <a:endParaRPr lang="ru-RU" dirty="0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246888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Raw JSON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703320" y="1325880"/>
            <a:ext cx="2468880" cy="640080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92240" y="1325880"/>
            <a:ext cx="2468880" cy="640080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9281160" y="1325880"/>
            <a:ext cx="1828800" cy="640080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Docker + Frontend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43814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22706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15984" y="1453896"/>
            <a:ext cx="201168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>
                <a:solidFill>
                  <a:srgbClr val="433E4D"/>
                </a:solidFill>
                <a:latin typeface="Arial"/>
              </a:rPr>
              <a:t>→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60120" y="2468880"/>
            <a:ext cx="4663440" cy="1836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rPr sz="1400" dirty="0" err="1"/>
              <a:t>Инференс</a:t>
            </a:r>
            <a:endParaRPr sz="1400" dirty="0"/>
          </a:p>
          <a:p>
            <a:r>
              <a:rPr sz="1600" dirty="0"/>
              <a:t>Backend endpoint: POST /predict.</a:t>
            </a:r>
          </a:p>
          <a:p>
            <a:r>
              <a:rPr sz="1600" dirty="0"/>
              <a:t>Модель </a:t>
            </a:r>
            <a:r>
              <a:rPr sz="1600" dirty="0" err="1"/>
              <a:t>сохранена</a:t>
            </a:r>
            <a:r>
              <a:rPr sz="1600" dirty="0"/>
              <a:t> </a:t>
            </a:r>
            <a:r>
              <a:rPr sz="1600" dirty="0" err="1"/>
              <a:t>как</a:t>
            </a:r>
            <a:r>
              <a:rPr sz="1600" dirty="0"/>
              <a:t> preprocessing + estimator pipeline.</a:t>
            </a:r>
          </a:p>
          <a:p>
            <a:r>
              <a:rPr sz="1600" dirty="0"/>
              <a:t>API </a:t>
            </a:r>
            <a:r>
              <a:rPr sz="1600" dirty="0" err="1"/>
              <a:t>возвращает</a:t>
            </a:r>
            <a:r>
              <a:rPr sz="1600" dirty="0"/>
              <a:t> prediction и </a:t>
            </a:r>
            <a:r>
              <a:rPr sz="1600" dirty="0" err="1"/>
              <a:t>purchase_probability</a:t>
            </a:r>
            <a:r>
              <a:rPr sz="1600" dirty="0"/>
              <a:t>.</a:t>
            </a:r>
          </a:p>
          <a:p>
            <a:r>
              <a:rPr sz="1600" dirty="0"/>
              <a:t>Swagger: http://127.0.0.1:8000/docs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400800" y="2468880"/>
            <a:ext cx="4389120" cy="186717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433E4C"/>
                </a:solidFill>
              </a:defRPr>
            </a:pPr>
            <a:r>
              <a:rPr sz="1600" dirty="0" err="1"/>
              <a:t>Инструменты</a:t>
            </a:r>
            <a:endParaRPr sz="2800" b="1" dirty="0">
              <a:solidFill>
                <a:srgbClr val="433E4D"/>
              </a:solidFill>
              <a:latin typeface="Arial"/>
            </a:endParaRPr>
          </a:p>
          <a:p>
            <a:r>
              <a:rPr sz="1600" dirty="0"/>
              <a:t>Google </a:t>
            </a:r>
            <a:r>
              <a:rPr sz="1600" dirty="0" err="1"/>
              <a:t>Colab</a:t>
            </a:r>
            <a:r>
              <a:rPr sz="1600" dirty="0"/>
              <a:t>: EDA, </a:t>
            </a:r>
            <a:r>
              <a:rPr sz="1600" dirty="0" err="1"/>
              <a:t>обучение</a:t>
            </a:r>
            <a:r>
              <a:rPr sz="1600" dirty="0"/>
              <a:t>, </a:t>
            </a:r>
            <a:r>
              <a:rPr sz="1600" dirty="0" err="1"/>
              <a:t>сравнение</a:t>
            </a:r>
            <a:r>
              <a:rPr sz="1600" dirty="0"/>
              <a:t>, </a:t>
            </a:r>
            <a:r>
              <a:rPr sz="1600" dirty="0" err="1"/>
              <a:t>интерпретация</a:t>
            </a:r>
            <a:r>
              <a:rPr sz="1600" dirty="0"/>
              <a:t>.</a:t>
            </a:r>
          </a:p>
          <a:p>
            <a:r>
              <a:rPr sz="1600" dirty="0" err="1"/>
              <a:t>FastAPI</a:t>
            </a:r>
            <a:r>
              <a:rPr sz="1600" dirty="0"/>
              <a:t>: REST API </a:t>
            </a:r>
            <a:r>
              <a:rPr sz="1600" dirty="0" err="1"/>
              <a:t>для</a:t>
            </a:r>
            <a:r>
              <a:rPr sz="1600" dirty="0"/>
              <a:t> </a:t>
            </a:r>
            <a:r>
              <a:rPr sz="1600" dirty="0" err="1"/>
              <a:t>инференса</a:t>
            </a:r>
            <a:r>
              <a:rPr sz="1600" dirty="0"/>
              <a:t>.</a:t>
            </a:r>
          </a:p>
          <a:p>
            <a:r>
              <a:rPr sz="1600" dirty="0"/>
              <a:t>Docker Compose: backend + frontend </a:t>
            </a:r>
            <a:r>
              <a:rPr sz="1600" dirty="0" err="1"/>
              <a:t>одной</a:t>
            </a:r>
            <a:r>
              <a:rPr sz="1600" dirty="0"/>
              <a:t> </a:t>
            </a:r>
            <a:r>
              <a:rPr sz="1600" dirty="0" err="1"/>
              <a:t>командой</a:t>
            </a:r>
            <a:r>
              <a:rPr sz="1600" dirty="0"/>
              <a:t>.</a:t>
            </a:r>
          </a:p>
          <a:p>
            <a:r>
              <a:rPr sz="1600" dirty="0"/>
              <a:t>Frontend: http://127.0.0.1:8080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7824" y="4617720"/>
            <a:ext cx="9052560" cy="9144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24128" y="4727448"/>
            <a:ext cx="87599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демонстрации</a:t>
            </a:r>
            <a:endParaRPr dirty="0"/>
          </a:p>
        </p:txBody>
      </p:sp>
      <p:sp>
        <p:nvSpPr>
          <p:cNvPr id="136" name="TextBox 135"/>
          <p:cNvSpPr txBox="1"/>
          <p:nvPr/>
        </p:nvSpPr>
        <p:spPr>
          <a:xfrm>
            <a:off x="1024128" y="5120640"/>
            <a:ext cx="8759952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docker compose up --build  →  frontend </a:t>
            </a:r>
            <a:r>
              <a:rPr dirty="0" err="1"/>
              <a:t>на</a:t>
            </a:r>
            <a:r>
              <a:rPr dirty="0"/>
              <a:t> :8080, backend </a:t>
            </a:r>
            <a:r>
              <a:rPr dirty="0" err="1"/>
              <a:t>на</a:t>
            </a:r>
            <a:r>
              <a:rPr dirty="0"/>
              <a:t> :8000</a:t>
            </a:r>
          </a:p>
        </p:txBody>
      </p:sp>
    </p:spTree>
    <p:extLst>
      <p:ext uri="{BB962C8B-B14F-4D97-AF65-F5344CB8AC3E}">
        <p14:creationId xmlns:p14="http://schemas.microsoft.com/office/powerpoint/2010/main" val="1374095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>
            <a:extLst>
              <a:ext uri="{FF2B5EF4-FFF2-40B4-BE49-F238E27FC236}">
                <a16:creationId xmlns:a16="http://schemas.microsoft.com/office/drawing/2014/main" id="{4FFFD149-2CCD-BAD3-F54B-F66AC2DA380B}"/>
              </a:ext>
            </a:extLst>
          </p:cNvPr>
          <p:cNvSpPr/>
          <p:nvPr/>
        </p:nvSpPr>
        <p:spPr>
          <a:xfrm>
            <a:off x="585216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DDAB48-BAE8-0B2E-4FF0-DAB3FA82078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11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2FAE1-1A9E-C8D8-650A-13DEC0164526}"/>
              </a:ext>
            </a:extLst>
          </p:cNvPr>
          <p:cNvSpPr txBox="1"/>
          <p:nvPr/>
        </p:nvSpPr>
        <p:spPr>
          <a:xfrm>
            <a:off x="87782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Что логируется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576A4-4C97-5E7A-3BB2-396DDBAA71D5}"/>
              </a:ext>
            </a:extLst>
          </p:cNvPr>
          <p:cNvSpPr txBox="1"/>
          <p:nvPr/>
        </p:nvSpPr>
        <p:spPr>
          <a:xfrm>
            <a:off x="87782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sz="1300"/>
              <a:t>Параметры модели и random_state.</a:t>
            </a:r>
          </a:p>
          <a:p>
            <a:r>
              <a:rPr sz="1300"/>
              <a:t>Метрики: Accuracy, Balanced Accuracy, Precision, Recall, F1, ROC-AUC, PR-AUC.</a:t>
            </a:r>
          </a:p>
          <a:p>
            <a:r>
              <a:rPr sz="1300"/>
              <a:t>Артефакты: comparison, metadata, confusion matrix.</a:t>
            </a:r>
          </a:p>
          <a:p>
            <a:r>
              <a:rPr sz="1300"/>
              <a:t>Финальный sklearn pipeline.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00CE4187-53D0-9768-FEFF-2ECA529059D6}"/>
              </a:ext>
            </a:extLst>
          </p:cNvPr>
          <p:cNvSpPr/>
          <p:nvPr/>
        </p:nvSpPr>
        <p:spPr>
          <a:xfrm>
            <a:off x="585216" y="1026000"/>
            <a:ext cx="2057400" cy="566928"/>
          </a:xfrm>
          <a:prstGeom prst="rect">
            <a:avLst/>
          </a:prstGeom>
          <a:solidFill>
            <a:srgbClr val="433E4C"/>
          </a:solidFill>
          <a:ln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Обучение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DA7B0E1-8119-D1C9-82CA-20FA2029E8F3}"/>
              </a:ext>
            </a:extLst>
          </p:cNvPr>
          <p:cNvSpPr/>
          <p:nvPr/>
        </p:nvSpPr>
        <p:spPr>
          <a:xfrm>
            <a:off x="3091072" y="1022128"/>
            <a:ext cx="2057400" cy="566928"/>
          </a:xfrm>
          <a:prstGeom prst="rect">
            <a:avLst/>
          </a:prstGeom>
          <a:solidFill>
            <a:srgbClr val="89C400"/>
          </a:solidFill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MLflow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D53C720-4D6D-9A91-2AD1-69128664509B}"/>
              </a:ext>
            </a:extLst>
          </p:cNvPr>
          <p:cNvSpPr/>
          <p:nvPr/>
        </p:nvSpPr>
        <p:spPr>
          <a:xfrm>
            <a:off x="5670056" y="1022128"/>
            <a:ext cx="2057400" cy="566928"/>
          </a:xfrm>
          <a:prstGeom prst="rect">
            <a:avLst/>
          </a:prstGeom>
          <a:solidFill>
            <a:srgbClr val="89C400"/>
          </a:solidFill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DagsHub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5FE13C3-C51C-19B7-1940-4932EB702511}"/>
              </a:ext>
            </a:extLst>
          </p:cNvPr>
          <p:cNvSpPr/>
          <p:nvPr/>
        </p:nvSpPr>
        <p:spPr>
          <a:xfrm>
            <a:off x="8252808" y="1044202"/>
            <a:ext cx="2057400" cy="566928"/>
          </a:xfrm>
          <a:prstGeom prst="rect">
            <a:avLst/>
          </a:prstGeom>
          <a:solidFill>
            <a:srgbClr val="433E4C"/>
          </a:solidFill>
          <a:ln>
            <a:solidFill>
              <a:srgbClr val="433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модели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F18851-6811-900B-B8B1-606E20975992}"/>
              </a:ext>
            </a:extLst>
          </p:cNvPr>
          <p:cNvSpPr txBox="1"/>
          <p:nvPr/>
        </p:nvSpPr>
        <p:spPr>
          <a:xfrm>
            <a:off x="2633872" y="1068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87AA99-E332-59BE-825C-AB68B41CB052}"/>
              </a:ext>
            </a:extLst>
          </p:cNvPr>
          <p:cNvSpPr txBox="1"/>
          <p:nvPr/>
        </p:nvSpPr>
        <p:spPr>
          <a:xfrm>
            <a:off x="5176293" y="106884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B0A39-8B95-FA9B-44F2-7F732771E586}"/>
              </a:ext>
            </a:extLst>
          </p:cNvPr>
          <p:cNvSpPr txBox="1"/>
          <p:nvPr/>
        </p:nvSpPr>
        <p:spPr>
          <a:xfrm>
            <a:off x="7741159" y="10917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300" b="1">
                <a:solidFill>
                  <a:srgbClr val="433E4C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15" name="Rectangle 18">
            <a:extLst>
              <a:ext uri="{FF2B5EF4-FFF2-40B4-BE49-F238E27FC236}">
                <a16:creationId xmlns:a16="http://schemas.microsoft.com/office/drawing/2014/main" id="{1A031587-3550-1693-4888-431AB91E83FA}"/>
              </a:ext>
            </a:extLst>
          </p:cNvPr>
          <p:cNvSpPr/>
          <p:nvPr/>
        </p:nvSpPr>
        <p:spPr>
          <a:xfrm>
            <a:off x="4297680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52515-1466-8495-1764-E76DE753B7FF}"/>
              </a:ext>
            </a:extLst>
          </p:cNvPr>
          <p:cNvSpPr txBox="1"/>
          <p:nvPr/>
        </p:nvSpPr>
        <p:spPr>
          <a:xfrm>
            <a:off x="444398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Зачем это нужно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62110-7CE9-5B67-FF9F-43FF2A2B5317}"/>
              </a:ext>
            </a:extLst>
          </p:cNvPr>
          <p:cNvSpPr txBox="1"/>
          <p:nvPr/>
        </p:nvSpPr>
        <p:spPr>
          <a:xfrm>
            <a:off x="444398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Результаты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теряются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перезапуска</a:t>
            </a:r>
            <a:r>
              <a:rPr dirty="0"/>
              <a:t>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сравнивать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Видно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выбрана</a:t>
            </a:r>
            <a:r>
              <a:rPr dirty="0"/>
              <a:t> </a:t>
            </a:r>
            <a:r>
              <a:rPr dirty="0" err="1"/>
              <a:t>финальная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Проще</a:t>
            </a:r>
            <a:r>
              <a:rPr dirty="0"/>
              <a:t> </a:t>
            </a:r>
            <a:r>
              <a:rPr dirty="0" err="1"/>
              <a:t>воспроизвести</a:t>
            </a:r>
            <a:r>
              <a:rPr dirty="0"/>
              <a:t> </a:t>
            </a:r>
            <a:r>
              <a:rPr dirty="0" err="1"/>
              <a:t>эксперимент</a:t>
            </a:r>
            <a:r>
              <a:rPr dirty="0"/>
              <a:t>.</a:t>
            </a: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01123BE2-78E1-2660-D299-BABEDC39AEE2}"/>
              </a:ext>
            </a:extLst>
          </p:cNvPr>
          <p:cNvSpPr/>
          <p:nvPr/>
        </p:nvSpPr>
        <p:spPr>
          <a:xfrm>
            <a:off x="7863840" y="2377440"/>
            <a:ext cx="3200400" cy="261976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0BBFCE-66AB-B157-AAA0-90516F1A83C7}"/>
              </a:ext>
            </a:extLst>
          </p:cNvPr>
          <p:cNvSpPr txBox="1"/>
          <p:nvPr/>
        </p:nvSpPr>
        <p:spPr>
          <a:xfrm>
            <a:off x="8010144" y="2487168"/>
            <a:ext cx="2907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rPr dirty="0" err="1"/>
              <a:t>MLOps-эффект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E32329-78BC-F905-4ABA-AA6F20BCC706}"/>
              </a:ext>
            </a:extLst>
          </p:cNvPr>
          <p:cNvSpPr txBox="1"/>
          <p:nvPr/>
        </p:nvSpPr>
        <p:spPr>
          <a:xfrm>
            <a:off x="8010144" y="2907792"/>
            <a:ext cx="290779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DagsHub</a:t>
            </a:r>
            <a:r>
              <a:rPr dirty="0"/>
              <a:t> </a:t>
            </a:r>
            <a:r>
              <a:rPr dirty="0" err="1"/>
              <a:t>выступает</a:t>
            </a:r>
            <a:r>
              <a:rPr dirty="0"/>
              <a:t> </a:t>
            </a:r>
            <a:r>
              <a:rPr dirty="0" err="1"/>
              <a:t>удалённым</a:t>
            </a:r>
            <a:r>
              <a:rPr dirty="0"/>
              <a:t> </a:t>
            </a:r>
            <a:r>
              <a:rPr dirty="0" err="1"/>
              <a:t>MLflow</a:t>
            </a:r>
            <a:r>
              <a:rPr dirty="0"/>
              <a:t> Tracking Server.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/>
              <a:t>Фиксируется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: </a:t>
            </a:r>
            <a:r>
              <a:rPr dirty="0" err="1"/>
              <a:t>запуск</a:t>
            </a:r>
            <a:r>
              <a:rPr dirty="0"/>
              <a:t>, </a:t>
            </a:r>
            <a:r>
              <a:rPr dirty="0" err="1"/>
              <a:t>метрики</a:t>
            </a:r>
            <a:r>
              <a:rPr dirty="0"/>
              <a:t>, </a:t>
            </a:r>
            <a:r>
              <a:rPr dirty="0" err="1"/>
              <a:t>артефакты</a:t>
            </a:r>
            <a:r>
              <a:rPr dirty="0"/>
              <a:t>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база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мониторинга</a:t>
            </a:r>
            <a:r>
              <a:rPr dirty="0"/>
              <a:t> и </a:t>
            </a:r>
            <a:r>
              <a:rPr dirty="0" err="1"/>
              <a:t>регулярного</a:t>
            </a:r>
            <a:r>
              <a:rPr dirty="0"/>
              <a:t> </a:t>
            </a:r>
            <a:r>
              <a:rPr dirty="0" err="1"/>
              <a:t>переобучения</a:t>
            </a:r>
            <a:r>
              <a:rPr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5D6F7B-8B32-E889-F712-3B6BBC0AD7D1}"/>
              </a:ext>
            </a:extLst>
          </p:cNvPr>
          <p:cNvSpPr txBox="1"/>
          <p:nvPr/>
        </p:nvSpPr>
        <p:spPr>
          <a:xfrm>
            <a:off x="631336" y="5417317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E2E34"/>
                </a:solidFill>
              </a:defRPr>
            </a:pPr>
            <a:r>
              <a:rPr sz="1400"/>
              <a:t>Вывод: MLflow + DagsHub добавляют воспроизводимость: можно сравнивать версии, видеть метрики и сохранять артефакты модели.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E659A2-A5F6-0D0B-0BC3-B9EFC88EFE3C}"/>
              </a:ext>
            </a:extLst>
          </p:cNvPr>
          <p:cNvSpPr txBox="1"/>
          <p:nvPr/>
        </p:nvSpPr>
        <p:spPr>
          <a:xfrm>
            <a:off x="263352" y="103156"/>
            <a:ext cx="888601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433E4C"/>
                </a:solidFill>
              </a:defRPr>
            </a:pPr>
            <a:r>
              <a:rPr lang="en-US" b="1" dirty="0" err="1"/>
              <a:t>MLflow</a:t>
            </a:r>
            <a:r>
              <a:rPr lang="en-US" b="1" dirty="0"/>
              <a:t> + </a:t>
            </a:r>
            <a:r>
              <a:rPr lang="en-US" b="1" dirty="0" err="1"/>
              <a:t>DagsHub</a:t>
            </a:r>
            <a:r>
              <a:rPr lang="en-US" b="1" dirty="0"/>
              <a:t>: </a:t>
            </a:r>
            <a:r>
              <a:rPr lang="ru-RU" b="1" dirty="0"/>
              <a:t>управление экспериментами</a:t>
            </a:r>
            <a:br>
              <a:rPr lang="ru-RU" b="1" dirty="0"/>
            </a:br>
            <a:endParaRPr lang="ru-RU" sz="1800" b="0" strike="noStrike" spc="-1" dirty="0"/>
          </a:p>
        </p:txBody>
      </p:sp>
    </p:spTree>
    <p:extLst>
      <p:ext uri="{BB962C8B-B14F-4D97-AF65-F5344CB8AC3E}">
        <p14:creationId xmlns:p14="http://schemas.microsoft.com/office/powerpoint/2010/main" val="139513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E499F4-B46E-A99E-EEDE-0BB95DA5221E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12</a:t>
            </a:r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AEA8305-BD37-2651-D313-453D833ACC49}"/>
              </a:ext>
            </a:extLst>
          </p:cNvPr>
          <p:cNvSpPr/>
          <p:nvPr/>
        </p:nvSpPr>
        <p:spPr bwMode="auto">
          <a:xfrm>
            <a:off x="608686" y="404664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spcAft>
                <a:spcPts val="400"/>
              </a:spcAft>
              <a:buNone/>
              <a:defRPr sz="2800" b="1">
                <a:solidFill>
                  <a:srgbClr val="433E4C"/>
                </a:solidFill>
              </a:defRPr>
            </a:pPr>
            <a:r>
              <a:rPr dirty="0" err="1"/>
              <a:t>Ограничения</a:t>
            </a:r>
            <a:r>
              <a:rPr dirty="0"/>
              <a:t> и </a:t>
            </a:r>
            <a:r>
              <a:rPr dirty="0" err="1"/>
              <a:t>развитие</a:t>
            </a:r>
            <a:r>
              <a:rPr dirty="0"/>
              <a:t> </a:t>
            </a:r>
            <a:r>
              <a:rPr dirty="0" err="1"/>
              <a:t>проекта</a:t>
            </a:r>
            <a:endParaRPr lang="ru-RU" sz="2800" b="0" strike="noStrike" spc="-1" dirty="0"/>
          </a:p>
        </p:txBody>
      </p:sp>
      <p:sp>
        <p:nvSpPr>
          <p:cNvPr id="6" name="Rectangle 5"/>
          <p:cNvSpPr/>
          <p:nvPr/>
        </p:nvSpPr>
        <p:spPr>
          <a:xfrm>
            <a:off x="71323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Ограничения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Данные исторические: поведение пользователей меняется.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Вероятность покупки не гарантирует покупку.</a:t>
            </a:r>
          </a:p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t>Датасет может отражать сезонность и особенности источников трафика.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89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Риски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sz="1300"/>
              <a:t>Random Forest Tuned имеет train/test gap по F1 = 0.274.</a:t>
            </a:r>
          </a:p>
          <a:p>
            <a:r>
              <a:rPr sz="1300"/>
              <a:t>False Negative — риск пропустить потенциального покупателя.</a:t>
            </a:r>
          </a:p>
          <a:p>
            <a:r>
              <a:rPr sz="1300"/>
              <a:t>False Positive — риск лишнего маркетингового действия.</a:t>
            </a:r>
          </a:p>
          <a:p>
            <a:r>
              <a:rPr sz="1300"/>
              <a:t>Threshold 0.45 можно использовать как бизнес-настройку для роста recall.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45552" y="1298448"/>
            <a:ext cx="3337560" cy="3886200"/>
          </a:xfrm>
          <a:prstGeom prst="rect">
            <a:avLst/>
          </a:prstGeom>
          <a:solidFill>
            <a:srgbClr val="F5F8FA"/>
          </a:solidFill>
          <a:ln w="15240"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91856" y="1408176"/>
            <a:ext cx="3044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433E4C"/>
                </a:solidFill>
              </a:defRPr>
            </a:pPr>
            <a:r>
              <a:t>Как улучшить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1801368"/>
            <a:ext cx="304495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E2E34"/>
                </a:solidFill>
              </a:defRPr>
            </a:pPr>
            <a:r>
              <a:rPr sz="1300"/>
              <a:t>Расширить поиск гиперпараметров и проверить ансамбли.</a:t>
            </a:r>
          </a:p>
          <a:p>
            <a:r>
              <a:rPr sz="1300"/>
              <a:t>Мониторить drift и качество на новых сессиях.</a:t>
            </a:r>
          </a:p>
          <a:p>
            <a:r>
              <a:rPr sz="1300"/>
              <a:t>Настраивать threshold под бизнес-стоимость ошибок.</a:t>
            </a:r>
          </a:p>
          <a:p>
            <a:r>
              <a:rPr sz="1300"/>
              <a:t>Регулярно переобучать модель.</a:t>
            </a:r>
          </a:p>
        </p:txBody>
      </p:sp>
    </p:spTree>
    <p:extLst>
      <p:ext uri="{BB962C8B-B14F-4D97-AF65-F5344CB8AC3E}">
        <p14:creationId xmlns:p14="http://schemas.microsoft.com/office/powerpoint/2010/main" val="355623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" name="Прямая соединительная линия 1"/>
          <p:cNvSpPr/>
          <p:nvPr/>
        </p:nvSpPr>
        <p:spPr bwMode="auto">
          <a:xfrm flipV="1">
            <a:off x="200160" y="1412776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/>
          </a:p>
        </p:txBody>
      </p:sp>
      <p:sp>
        <p:nvSpPr>
          <p:cNvPr id="123" name="CustomShape 1"/>
          <p:cNvSpPr/>
          <p:nvPr/>
        </p:nvSpPr>
        <p:spPr bwMode="auto">
          <a:xfrm>
            <a:off x="936000" y="1944000"/>
            <a:ext cx="10344775" cy="246221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buNone/>
              <a:defRPr/>
            </a:pPr>
            <a:endParaRPr lang="ru-RU" sz="1600" spc="-1" dirty="0">
              <a:solidFill>
                <a:srgbClr val="000000"/>
              </a:solidFill>
              <a:ea typeface="Verdana"/>
            </a:endParaRPr>
          </a:p>
        </p:txBody>
      </p:sp>
      <p:sp>
        <p:nvSpPr>
          <p:cNvPr id="124" name="Заголовок 1"/>
          <p:cNvSpPr/>
          <p:nvPr/>
        </p:nvSpPr>
        <p:spPr bwMode="auto">
          <a:xfrm>
            <a:off x="828000" y="504000"/>
            <a:ext cx="91056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wrap="square" lIns="73152" tIns="36576" rIns="73152" bIns="36576" anchor="ctr">
            <a:spAutoFit/>
          </a:bodyPr>
          <a:lstStyle/>
          <a:p>
            <a:pPr>
              <a:buNone/>
              <a:defRPr/>
            </a:pPr>
            <a:r>
              <a:rPr sz="2500" b="1" dirty="0" err="1">
                <a:solidFill>
                  <a:srgbClr val="433E4D"/>
                </a:solidFill>
                <a:latin typeface="Arial"/>
              </a:rPr>
              <a:t>Результаты</a:t>
            </a:r>
            <a:endParaRPr lang="ru-RU" sz="2800" b="0" strike="noStrike" spc="-1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13</a:t>
            </a:r>
            <a:endParaRPr lang="ru-RU" dirty="0"/>
          </a:p>
        </p:txBody>
      </p:sp>
      <p:sp>
        <p:nvSpPr>
          <p:cNvPr id="125" name="Rounded Rectangle 124"/>
          <p:cNvSpPr/>
          <p:nvPr/>
        </p:nvSpPr>
        <p:spPr>
          <a:xfrm>
            <a:off x="914400" y="1325880"/>
            <a:ext cx="365760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Итог проекта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60120" y="2148840"/>
            <a:ext cx="4754880" cy="22860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4232A"/>
                </a:solidFill>
                <a:latin typeface="Arial"/>
              </a:defRPr>
            </a:pPr>
            <a:r>
              <a:rPr sz="1500" dirty="0" err="1"/>
              <a:t>Реализован</a:t>
            </a:r>
            <a:r>
              <a:rPr sz="1500" dirty="0"/>
              <a:t> </a:t>
            </a:r>
            <a:r>
              <a:rPr sz="1500" dirty="0" err="1"/>
              <a:t>полный</a:t>
            </a:r>
            <a:r>
              <a:rPr sz="1500" dirty="0"/>
              <a:t> ML-</a:t>
            </a:r>
            <a:r>
              <a:rPr sz="1500" dirty="0" err="1"/>
              <a:t>процесс</a:t>
            </a:r>
            <a:r>
              <a:rPr sz="1500" dirty="0"/>
              <a:t> </a:t>
            </a:r>
            <a:r>
              <a:rPr sz="1500" dirty="0" err="1"/>
              <a:t>от</a:t>
            </a:r>
            <a:r>
              <a:rPr sz="1500" dirty="0"/>
              <a:t> EDA </a:t>
            </a:r>
            <a:r>
              <a:rPr sz="1500" dirty="0" err="1"/>
              <a:t>до</a:t>
            </a:r>
            <a:r>
              <a:rPr sz="1500" dirty="0"/>
              <a:t> </a:t>
            </a:r>
            <a:r>
              <a:rPr sz="1500" dirty="0" err="1"/>
              <a:t>веб-демонстрации</a:t>
            </a:r>
            <a:r>
              <a:rPr sz="1500" dirty="0"/>
              <a:t>.</a:t>
            </a:r>
          </a:p>
          <a:p>
            <a:r>
              <a:rPr sz="1500" dirty="0" err="1"/>
              <a:t>Обучены</a:t>
            </a:r>
            <a:r>
              <a:rPr sz="1500" dirty="0"/>
              <a:t> и </a:t>
            </a:r>
            <a:r>
              <a:rPr sz="1500" dirty="0" err="1"/>
              <a:t>сравнены</a:t>
            </a:r>
            <a:r>
              <a:rPr sz="1500" dirty="0"/>
              <a:t> </a:t>
            </a:r>
            <a:r>
              <a:rPr sz="1500" dirty="0" err="1"/>
              <a:t>основные</a:t>
            </a:r>
            <a:r>
              <a:rPr sz="1500" dirty="0"/>
              <a:t> </a:t>
            </a:r>
            <a:r>
              <a:rPr sz="1500" dirty="0" err="1"/>
              <a:t>модели</a:t>
            </a:r>
            <a:r>
              <a:rPr sz="1500" dirty="0"/>
              <a:t>.</a:t>
            </a:r>
          </a:p>
          <a:p>
            <a:r>
              <a:rPr sz="1500" dirty="0" err="1"/>
              <a:t>Лучшая</a:t>
            </a:r>
            <a:r>
              <a:rPr sz="1500" dirty="0"/>
              <a:t> </a:t>
            </a:r>
            <a:r>
              <a:rPr sz="1500" dirty="0" err="1"/>
              <a:t>модель</a:t>
            </a:r>
            <a:r>
              <a:rPr sz="1500" dirty="0"/>
              <a:t> — Random Forest Tuned </a:t>
            </a:r>
            <a:r>
              <a:rPr sz="1500" dirty="0" err="1"/>
              <a:t>по</a:t>
            </a:r>
            <a:r>
              <a:rPr sz="1500" dirty="0"/>
              <a:t> F1-score.</a:t>
            </a:r>
          </a:p>
          <a:p>
            <a:r>
              <a:rPr sz="1500" dirty="0" err="1"/>
              <a:t>Проверены</a:t>
            </a:r>
            <a:r>
              <a:rPr sz="1500" dirty="0"/>
              <a:t> </a:t>
            </a:r>
            <a:r>
              <a:rPr sz="1500" dirty="0" err="1"/>
              <a:t>дисбаланс</a:t>
            </a:r>
            <a:r>
              <a:rPr sz="1500" dirty="0"/>
              <a:t>, </a:t>
            </a:r>
            <a:r>
              <a:rPr sz="1500" dirty="0" err="1"/>
              <a:t>переобучение</a:t>
            </a:r>
            <a:r>
              <a:rPr sz="1500" dirty="0"/>
              <a:t>, resampling и threshold tuning.</a:t>
            </a:r>
          </a:p>
          <a:p>
            <a:r>
              <a:rPr sz="1500" dirty="0"/>
              <a:t>Backend </a:t>
            </a:r>
            <a:r>
              <a:rPr sz="1500" dirty="0" err="1"/>
              <a:t>принимает</a:t>
            </a:r>
            <a:r>
              <a:rPr sz="1500" dirty="0"/>
              <a:t> </a:t>
            </a:r>
            <a:r>
              <a:rPr sz="1500" dirty="0" err="1"/>
              <a:t>сырые</a:t>
            </a:r>
            <a:r>
              <a:rPr sz="1500" dirty="0"/>
              <a:t> </a:t>
            </a:r>
            <a:r>
              <a:rPr sz="1500" dirty="0" err="1"/>
              <a:t>данные</a:t>
            </a:r>
            <a:r>
              <a:rPr sz="1500" dirty="0"/>
              <a:t> и </a:t>
            </a:r>
            <a:r>
              <a:rPr sz="1500" dirty="0" err="1"/>
              <a:t>возвращает</a:t>
            </a:r>
            <a:r>
              <a:rPr sz="1500" dirty="0"/>
              <a:t> </a:t>
            </a:r>
            <a:r>
              <a:rPr sz="1500" dirty="0" err="1"/>
              <a:t>вероятность</a:t>
            </a:r>
            <a:r>
              <a:rPr sz="1500" dirty="0"/>
              <a:t> </a:t>
            </a:r>
            <a:r>
              <a:rPr sz="1500" dirty="0" err="1"/>
              <a:t>покупки</a:t>
            </a:r>
            <a:r>
              <a:rPr sz="1500" dirty="0"/>
              <a:t>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400800" y="1389888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0.6727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0080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dirty="0">
                <a:solidFill>
                  <a:schemeClr val="tx1"/>
                </a:solidFill>
              </a:rPr>
              <a:t>F1-score </a:t>
            </a:r>
            <a:r>
              <a:rPr sz="1400" dirty="0" err="1">
                <a:solidFill>
                  <a:schemeClr val="tx1"/>
                </a:solidFill>
              </a:rPr>
              <a:t>на</a:t>
            </a:r>
            <a:r>
              <a:rPr sz="1400" dirty="0">
                <a:solidFill>
                  <a:schemeClr val="tx1"/>
                </a:solidFill>
              </a:rPr>
              <a:t> test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732520" y="1389888"/>
            <a:ext cx="1920240" cy="658368"/>
          </a:xfrm>
          <a:prstGeom prst="roundRect">
            <a:avLst/>
          </a:prstGeom>
          <a:solidFill>
            <a:srgbClr val="32C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0.9253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732520" y="2066543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dirty="0">
                <a:solidFill>
                  <a:schemeClr val="tx1"/>
                </a:solidFill>
              </a:rPr>
              <a:t>ROC-AUC </a:t>
            </a:r>
            <a:r>
              <a:rPr sz="1400" dirty="0" err="1">
                <a:solidFill>
                  <a:schemeClr val="tx1"/>
                </a:solidFill>
              </a:rPr>
              <a:t>на</a:t>
            </a:r>
            <a:r>
              <a:rPr sz="1400" dirty="0">
                <a:solidFill>
                  <a:schemeClr val="tx1"/>
                </a:solidFill>
              </a:rPr>
              <a:t> test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400800" y="2926080"/>
            <a:ext cx="1920240" cy="658368"/>
          </a:xfrm>
          <a:prstGeom prst="roundRect">
            <a:avLst/>
          </a:prstGeom>
          <a:solidFill>
            <a:srgbClr val="433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5+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0080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dirty="0" err="1">
                <a:solidFill>
                  <a:schemeClr val="tx1"/>
                </a:solidFill>
              </a:rPr>
              <a:t>моделей</a:t>
            </a:r>
            <a:r>
              <a:rPr sz="1400" dirty="0">
                <a:solidFill>
                  <a:schemeClr val="tx1"/>
                </a:solidFill>
              </a:rPr>
              <a:t>/</a:t>
            </a:r>
            <a:r>
              <a:rPr sz="1400" dirty="0" err="1">
                <a:solidFill>
                  <a:schemeClr val="tx1"/>
                </a:solidFill>
              </a:rPr>
              <a:t>экспериментов</a:t>
            </a:r>
            <a:endParaRPr sz="1400" dirty="0">
              <a:solidFill>
                <a:schemeClr val="tx1"/>
              </a:solidFill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8732520" y="2926080"/>
            <a:ext cx="1920240" cy="658368"/>
          </a:xfrm>
          <a:prstGeom prst="roundRect">
            <a:avLst/>
          </a:prstGeom>
          <a:solidFill>
            <a:srgbClr val="89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2200" b="1"/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732520" y="3602736"/>
            <a:ext cx="19202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0" dirty="0" err="1">
                <a:solidFill>
                  <a:schemeClr val="tx1"/>
                </a:solidFill>
                <a:latin typeface="Arial"/>
              </a:rPr>
              <a:t>готовый</a:t>
            </a:r>
            <a:r>
              <a:rPr sz="950" b="0" dirty="0">
                <a:solidFill>
                  <a:schemeClr val="tx1"/>
                </a:solidFill>
                <a:latin typeface="Arial"/>
              </a:rPr>
              <a:t> web demo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19088" y="4800600"/>
            <a:ext cx="4251960" cy="713232"/>
          </a:xfrm>
          <a:prstGeom prst="roundRect">
            <a:avLst/>
          </a:prstGeom>
          <a:solidFill>
            <a:srgbClr val="F4F8F9"/>
          </a:solidFill>
          <a:ln>
            <a:solidFill>
              <a:srgbClr val="32C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dirty="0" err="1">
                <a:solidFill>
                  <a:schemeClr val="tx1"/>
                </a:solidFill>
              </a:rPr>
              <a:t>Следующий</a:t>
            </a:r>
            <a:r>
              <a:rPr sz="1400" dirty="0">
                <a:solidFill>
                  <a:schemeClr val="tx1"/>
                </a:solidFill>
              </a:rPr>
              <a:t> </a:t>
            </a:r>
            <a:r>
              <a:rPr sz="1400" dirty="0" err="1">
                <a:solidFill>
                  <a:schemeClr val="tx1"/>
                </a:solidFill>
              </a:rPr>
              <a:t>шаг</a:t>
            </a:r>
            <a:r>
              <a:rPr sz="1400" dirty="0">
                <a:solidFill>
                  <a:schemeClr val="tx1"/>
                </a:solidFill>
              </a:rPr>
              <a:t>: </a:t>
            </a:r>
            <a:r>
              <a:rPr sz="1400" dirty="0" err="1">
                <a:solidFill>
                  <a:schemeClr val="tx1"/>
                </a:solidFill>
              </a:rPr>
              <a:t>мониторинг</a:t>
            </a:r>
            <a:r>
              <a:rPr sz="1400" dirty="0">
                <a:solidFill>
                  <a:schemeClr val="tx1"/>
                </a:solidFill>
              </a:rPr>
              <a:t> </a:t>
            </a:r>
            <a:r>
              <a:rPr sz="1400" dirty="0" err="1">
                <a:solidFill>
                  <a:schemeClr val="tx1"/>
                </a:solidFill>
              </a:rPr>
              <a:t>качества</a:t>
            </a:r>
            <a:r>
              <a:rPr sz="1400" dirty="0">
                <a:solidFill>
                  <a:schemeClr val="tx1"/>
                </a:solidFill>
              </a:rPr>
              <a:t>, </a:t>
            </a:r>
            <a:r>
              <a:rPr sz="1400" dirty="0" err="1">
                <a:solidFill>
                  <a:schemeClr val="tx1"/>
                </a:solidFill>
              </a:rPr>
              <a:t>регулярное</a:t>
            </a:r>
            <a:r>
              <a:rPr sz="1400" dirty="0">
                <a:solidFill>
                  <a:schemeClr val="tx1"/>
                </a:solidFill>
              </a:rPr>
              <a:t> </a:t>
            </a:r>
            <a:r>
              <a:rPr sz="1400" dirty="0" err="1">
                <a:solidFill>
                  <a:schemeClr val="tx1"/>
                </a:solidFill>
              </a:rPr>
              <a:t>переобучение</a:t>
            </a:r>
            <a:r>
              <a:rPr sz="1400" dirty="0">
                <a:solidFill>
                  <a:schemeClr val="tx1"/>
                </a:solidFill>
              </a:rPr>
              <a:t> и </a:t>
            </a:r>
            <a:r>
              <a:rPr sz="1400" dirty="0" err="1">
                <a:solidFill>
                  <a:schemeClr val="tx1"/>
                </a:solidFill>
              </a:rPr>
              <a:t>настройка</a:t>
            </a:r>
            <a:r>
              <a:rPr sz="1400" dirty="0">
                <a:solidFill>
                  <a:schemeClr val="tx1"/>
                </a:solidFill>
              </a:rPr>
              <a:t> threshold </a:t>
            </a:r>
            <a:r>
              <a:rPr sz="1400" dirty="0" err="1">
                <a:solidFill>
                  <a:schemeClr val="tx1"/>
                </a:solidFill>
              </a:rPr>
              <a:t>под</a:t>
            </a:r>
            <a:r>
              <a:rPr sz="1400" dirty="0">
                <a:solidFill>
                  <a:schemeClr val="tx1"/>
                </a:solidFill>
              </a:rPr>
              <a:t> </a:t>
            </a:r>
            <a:r>
              <a:rPr sz="1400" dirty="0" err="1">
                <a:solidFill>
                  <a:schemeClr val="tx1"/>
                </a:solidFill>
              </a:rPr>
              <a:t>бизнес-стоимость</a:t>
            </a:r>
            <a:r>
              <a:rPr sz="1400" dirty="0">
                <a:solidFill>
                  <a:schemeClr val="tx1"/>
                </a:solidFill>
              </a:rPr>
              <a:t> </a:t>
            </a:r>
            <a:r>
              <a:rPr sz="1400" dirty="0" err="1">
                <a:solidFill>
                  <a:schemeClr val="tx1"/>
                </a:solidFill>
              </a:rPr>
              <a:t>ошибок</a:t>
            </a:r>
            <a:r>
              <a:rPr sz="1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334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43E3A-5F64-EF94-0CF9-2D9B17D92370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pPr algn="ctr">
              <a:defRPr/>
            </a:pPr>
            <a:r>
              <a:rPr sz="1200" b="0" dirty="0"/>
              <a:t>14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0C1149-B725-A020-8916-B5AD7C18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0"/>
            <a:ext cx="5429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05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 idx="4294967295"/>
          </p:nvPr>
        </p:nvSpPr>
        <p:spPr bwMode="auto">
          <a:xfrm>
            <a:off x="1487488" y="3173798"/>
            <a:ext cx="9140400" cy="98488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0000"/>
              </a:lnSpc>
              <a:buNone/>
              <a:defRPr/>
            </a:pPr>
            <a:r>
              <a:rPr lang="ru-RU" sz="3200" b="1" spc="-1" dirty="0">
                <a:solidFill>
                  <a:srgbClr val="FFFFFF"/>
                </a:solidFill>
                <a:latin typeface="+mn-lt"/>
              </a:rPr>
              <a:t>Покупательское намерение в интернет-магазине</a:t>
            </a:r>
            <a:endParaRPr lang="ru-RU" sz="3200" b="1" strike="noStrike" spc="-1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PlaceHolder 1"/>
          <p:cNvSpPr txBox="1">
            <a:spLocks/>
          </p:cNvSpPr>
          <p:nvPr/>
        </p:nvSpPr>
        <p:spPr bwMode="auto">
          <a:xfrm>
            <a:off x="1487488" y="4684383"/>
            <a:ext cx="9140400" cy="30777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2000" spc="-1" dirty="0">
                <a:solidFill>
                  <a:srgbClr val="FFFFFF"/>
                </a:solidFill>
                <a:latin typeface="+mn-lt"/>
              </a:rPr>
              <a:t>Загиров Матвей Денисович</a:t>
            </a:r>
          </a:p>
        </p:txBody>
      </p:sp>
      <p:sp>
        <p:nvSpPr>
          <p:cNvPr id="4" name="PlaceHolder 1"/>
          <p:cNvSpPr txBox="1">
            <a:spLocks/>
          </p:cNvSpPr>
          <p:nvPr/>
        </p:nvSpPr>
        <p:spPr bwMode="auto">
          <a:xfrm>
            <a:off x="1487488" y="5018582"/>
            <a:ext cx="9140400" cy="2154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ru-RU" sz="1400" i="1" spc="-1" dirty="0">
                <a:solidFill>
                  <a:srgbClr val="FFFFFF"/>
                </a:solidFill>
                <a:latin typeface="+mn-lt"/>
              </a:rPr>
              <a:t>Искусственный интеллект. Алгоритмы машинного обучения на языке </a:t>
            </a:r>
            <a:r>
              <a:rPr lang="ru-RU" sz="1400" i="1" spc="-1" dirty="0" err="1">
                <a:solidFill>
                  <a:srgbClr val="FFFFFF"/>
                </a:solidFill>
                <a:latin typeface="+mn-lt"/>
              </a:rPr>
              <a:t>Python</a:t>
            </a:r>
            <a:endParaRPr lang="ru-RU" sz="1400" i="1" spc="-1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4935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1382</Words>
  <Application>Microsoft Office PowerPoint</Application>
  <DocSecurity>0</DocSecurity>
  <PresentationFormat>Широкоэкранный</PresentationFormat>
  <Paragraphs>332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Arial</vt:lpstr>
      <vt:lpstr>Calibri</vt:lpstr>
      <vt:lpstr>Nekst</vt:lpstr>
      <vt:lpstr>Symbol</vt:lpstr>
      <vt:lpstr>Times New Roman</vt:lpstr>
      <vt:lpstr>Verdana</vt:lpstr>
      <vt:lpstr>Wingdings</vt:lpstr>
      <vt:lpstr>Office Theme</vt:lpstr>
      <vt:lpstr>Office Theme</vt:lpstr>
      <vt:lpstr>Покупательское намерение в интернет-магазине</vt:lpstr>
      <vt:lpstr>Постановка задачи и анализ предметной области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Борьба с дисбалансом классов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Покупательское намерение в интернет-магазине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Анастасия Г. Козлова</dc:creator>
  <cp:keywords/>
  <dc:description/>
  <cp:lastModifiedBy>Матвей Загиров</cp:lastModifiedBy>
  <cp:revision>110</cp:revision>
  <dcterms:created xsi:type="dcterms:W3CDTF">2023-08-24T08:06:00Z</dcterms:created>
  <dcterms:modified xsi:type="dcterms:W3CDTF">2026-05-22T03:10:50Z</dcterms:modified>
  <cp:category/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4</vt:i4>
  </property>
</Properties>
</file>