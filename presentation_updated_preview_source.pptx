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80" r:id="rId3"/>
    <p:sldId id="277" r:id="rId4"/>
    <p:sldId id="265" r:id="rId5"/>
    <p:sldId id="267" r:id="rId6"/>
    <p:sldId id="268" r:id="rId7"/>
    <p:sldId id="269" r:id="rId8"/>
    <p:sldId id="270" r:id="rId9"/>
    <p:sldId id="271" r:id="rId10"/>
    <p:sldId id="273" r:id="rId11"/>
    <p:sldId id="274" r:id="rId12"/>
    <p:sldId id="278" r:id="rId13"/>
    <p:sldId id="279" r:id="rId1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574" userDrawn="1">
          <p15:clr>
            <a:srgbClr val="A4A3A4"/>
          </p15:clr>
        </p15:guide>
        <p15:guide id="3" pos="7106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>
      <p:cViewPr varScale="1">
        <p:scale>
          <a:sx n="74" d="100"/>
          <a:sy n="74" d="100"/>
        </p:scale>
        <p:origin x="260" y="56"/>
      </p:cViewPr>
      <p:guideLst>
        <p:guide orient="horz" pos="1207"/>
        <p:guide pos="574"/>
        <p:guide pos="7106"/>
        <p:guide pos="3840"/>
        <p:guide orient="horz" pos="392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en-US" dirty="0"/>
              <a:t>|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CatBoost</c:v>
                </c:pt>
                <c:pt idx="1">
                  <c:v>Logistic Regression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0.64357864357864358</c:v>
                </c:pt>
                <c:pt idx="1">
                  <c:v>0.59166666666666667</c:v>
                </c:pt>
                <c:pt idx="2">
                  <c:v>0.57422512234910272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1-406D-8039-602CE47EEA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CatBoost</c:v>
                </c:pt>
                <c:pt idx="1">
                  <c:v>Logistic Regression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0.92723543125885599</c:v>
                </c:pt>
                <c:pt idx="1">
                  <c:v>0.89324421420747457</c:v>
                </c:pt>
                <c:pt idx="2">
                  <c:v>0.91821381555807879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B1-406D-8039-602CE47EE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1793662510936132"/>
          <c:y val="1.6858492350618336E-2"/>
          <c:w val="0.56908706724159475"/>
          <c:h val="9.7255621763495781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D79AF-EB0E-4FDF-9D49-C7DCB37EA06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200A0-0AF5-4110-9DCF-5EE5836C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84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D4AA372-6A96-47DD-805E-C015AA8C3DB6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F0B5FAB6-39D5-4FDF-86A9-A6853609F403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6EF000E4-E15D-4C45-831D-DFCE7C230E3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D69A5F12-5C8B-4C1A-AB7D-DA8BC0D5FC9B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C772EA4A-DBEE-4461-9CC8-F4ACC24D76E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8AA72D6-5E9E-40BA-9025-E59015FE2A2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8A06A4D2-C7D3-4AB7-A69C-5A45409B9F5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37D6418-062D-44DF-A032-4ED7A09F31B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3D0EB58E-09F9-41FD-87E0-ADDB04F4D7C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D4EDC22-D933-4D27-BE80-144C99A3E350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7C302F91-6E27-465C-AFBE-8DE38869F98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0F271771-34CE-482F-82AA-FF0937B29EDE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r>
              <a:rPr lang="ru-RU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12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ru-RU" sz="1400" b="0" strike="noStrike" spc="-1">
                <a:latin typeface="Nekst"/>
              </a:defRPr>
            </a:lvl1pPr>
          </a:lstStyle>
          <a:p>
            <a:pPr algn="ctr">
              <a:lnSpc>
                <a:spcPct val="100000"/>
              </a:lnSpc>
              <a:buNone/>
              <a:defRPr/>
            </a:pPr>
            <a:r>
              <a:rPr lang="en-US" sz="1400" b="0" strike="noStrike" spc="-1">
                <a:latin typeface="Nekst"/>
              </a:rPr>
              <a:t>Footer</a:t>
            </a:r>
            <a:endParaRPr lang="ru-RU" sz="1400" b="0" strike="noStrike" spc="-1"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396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ru-RU" sz="1400" b="0" strike="noStrike" spc="-1">
                <a:latin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r>
              <a:rPr lang="ru-RU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Seventh Outline Level</a:t>
            </a:r>
            <a:endParaRPr/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F0269EF7-D1D9-46F5-A625-AB9C218B463B}"/>
              </a:ext>
            </a:extLst>
          </p:cNvPr>
          <p:cNvGrpSpPr/>
          <p:nvPr userDrawn="1"/>
        </p:nvGrpSpPr>
        <p:grpSpPr>
          <a:xfrm>
            <a:off x="11690604" y="6401668"/>
            <a:ext cx="281940" cy="280670"/>
            <a:chOff x="11690604" y="6435852"/>
            <a:chExt cx="281940" cy="280670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CAF5D3BF-5BF3-4F71-BE75-E6E66741A1E1}"/>
                </a:ext>
              </a:extLst>
            </p:cNvPr>
            <p:cNvSpPr/>
            <p:nvPr/>
          </p:nvSpPr>
          <p:spPr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</p:spPr>
          <p:txBody>
            <a:bodyPr wrap="square" lIns="0" tIns="0" rIns="0" bIns="0" rtlCol="0"/>
            <a:lstStyle/>
            <a:p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41750304-9730-404D-9900-09340A8DA876}"/>
                </a:ext>
              </a:extLst>
            </p:cNvPr>
            <p:cNvSpPr/>
            <p:nvPr/>
          </p:nvSpPr>
          <p:spPr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ln w="25908">
              <a:solidFill>
                <a:srgbClr val="9CC639"/>
              </a:solidFill>
            </a:ln>
          </p:spPr>
          <p:txBody>
            <a:bodyPr wrap="square" lIns="0" tIns="0" rIns="0" bIns="0" rtlCol="0"/>
            <a:lstStyle/>
            <a:p>
              <a:endParaRPr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PlaceHolder 2"/>
          <p:cNvSpPr>
            <a:spLocks noGrp="1"/>
          </p:cNvSpPr>
          <p:nvPr>
            <p:ph type="sldNum" idx="2"/>
          </p:nvPr>
        </p:nvSpPr>
        <p:spPr bwMode="auto">
          <a:xfrm>
            <a:off x="11610000" y="6354000"/>
            <a:ext cx="4320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ru-RU" sz="1200" b="1" strike="noStrike" spc="-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88E02A3-5676-427E-A487-029D252D15C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171791-5D13-AEFF-09F0-07DBAFC3DF0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>
            <a:extLst>
              <a:ext uri="{FF2B5EF4-FFF2-40B4-BE49-F238E27FC236}">
                <a16:creationId xmlns:a16="http://schemas.microsoft.com/office/drawing/2014/main" id="{0F7A72F9-508F-7A79-7B54-9F168B62CF3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1487488" y="3173798"/>
            <a:ext cx="9140400" cy="9848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ru-RU" sz="3200" b="1" spc="-1" dirty="0">
                <a:solidFill>
                  <a:srgbClr val="FFFFFF"/>
                </a:solidFill>
                <a:latin typeface="+mn-lt"/>
              </a:rPr>
              <a:t>Покупательское намерение в интернет-магазине</a:t>
            </a:r>
            <a:endParaRPr lang="ru-RU" sz="3200" b="1" strike="noStrike" spc="-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5D049898-1F3A-1BE8-9004-75EC559C69EE}"/>
              </a:ext>
            </a:extLst>
          </p:cNvPr>
          <p:cNvSpPr txBox="1">
            <a:spLocks/>
          </p:cNvSpPr>
          <p:nvPr/>
        </p:nvSpPr>
        <p:spPr bwMode="auto">
          <a:xfrm>
            <a:off x="1487488" y="4684383"/>
            <a:ext cx="9140400" cy="3077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spc="-1" dirty="0">
                <a:solidFill>
                  <a:srgbClr val="FFFFFF"/>
                </a:solidFill>
                <a:latin typeface="+mn-lt"/>
              </a:rPr>
              <a:t>Загиров Матвей Денисович</a:t>
            </a: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F8A7FFCA-9544-6333-F09C-E78C9B05EABD}"/>
              </a:ext>
            </a:extLst>
          </p:cNvPr>
          <p:cNvSpPr txBox="1">
            <a:spLocks/>
          </p:cNvSpPr>
          <p:nvPr/>
        </p:nvSpPr>
        <p:spPr bwMode="auto">
          <a:xfrm>
            <a:off x="1487488" y="5018582"/>
            <a:ext cx="9140400" cy="215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1400" i="1" spc="-1" dirty="0">
                <a:solidFill>
                  <a:srgbClr val="FFFFFF"/>
                </a:solidFill>
                <a:latin typeface="+mn-lt"/>
              </a:rPr>
              <a:t>Искусственный интеллект. Алгоритмы машинного обучения на языке </a:t>
            </a:r>
            <a:r>
              <a:rPr lang="ru-RU" sz="1400" i="1" spc="-1" dirty="0" err="1">
                <a:solidFill>
                  <a:srgbClr val="FFFFFF"/>
                </a:solidFill>
                <a:latin typeface="+mn-lt"/>
              </a:rPr>
              <a:t>Python</a:t>
            </a:r>
            <a:endParaRPr lang="ru-RU" sz="1400" i="1" spc="-1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341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0F781-099A-8DB8-6DA7-BAC67F4D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>
                <a:solidFill>
                  <a:srgbClr val="433E4D"/>
                </a:solidFill>
              </a:rPr>
              <a:t>Постановка задачи и анализ предметной области</a:t>
            </a:r>
            <a:br>
              <a:rPr lang="ru-RU" b="1" dirty="0">
                <a:solidFill>
                  <a:srgbClr val="433E4D"/>
                </a:solidFill>
              </a:rPr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E4F957-51DE-A7F7-4CAB-047E6552398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F0B5FAB6-39D5-4FDF-86A9-A6853609F403}" type="slidenum">
              <a:rPr lang="ru-RU" smtClean="0"/>
              <a:t>2</a:t>
            </a:fld>
            <a:endParaRPr lang="ru-RU"/>
          </a:p>
        </p:txBody>
      </p:sp>
      <p:sp>
        <p:nvSpPr>
          <p:cNvPr id="6" name="Rounded Rectangle 166">
            <a:extLst>
              <a:ext uri="{FF2B5EF4-FFF2-40B4-BE49-F238E27FC236}">
                <a16:creationId xmlns:a16="http://schemas.microsoft.com/office/drawing/2014/main" id="{13A268C6-1B29-A897-ED21-7E07131FBE33}"/>
              </a:ext>
            </a:extLst>
          </p:cNvPr>
          <p:cNvSpPr/>
          <p:nvPr/>
        </p:nvSpPr>
        <p:spPr bwMode="auto">
          <a:xfrm>
            <a:off x="609480" y="1340768"/>
            <a:ext cx="3246120" cy="4114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 dirty="0" err="1">
                <a:solidFill>
                  <a:srgbClr val="FFFFFF"/>
                </a:solidFill>
                <a:latin typeface="Arial"/>
              </a:rPr>
              <a:t>Предметная</a:t>
            </a:r>
            <a:r>
              <a:rPr sz="17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50" b="1" dirty="0" err="1">
                <a:solidFill>
                  <a:srgbClr val="FFFFFF"/>
                </a:solidFill>
                <a:latin typeface="Arial"/>
              </a:rPr>
              <a:t>область</a:t>
            </a:r>
            <a:endParaRPr sz="17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35BD5-E6A9-8FDA-FC9C-6920A7326BAF}"/>
              </a:ext>
            </a:extLst>
          </p:cNvPr>
          <p:cNvSpPr txBox="1"/>
          <p:nvPr/>
        </p:nvSpPr>
        <p:spPr bwMode="auto">
          <a:xfrm>
            <a:off x="609480" y="1900352"/>
            <a:ext cx="3456432" cy="1170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dirty="0" err="1"/>
              <a:t>Интернет-магазин</a:t>
            </a:r>
            <a:r>
              <a:rPr dirty="0"/>
              <a:t> и </a:t>
            </a:r>
            <a:r>
              <a:rPr dirty="0" err="1"/>
              <a:t>пользовательские</a:t>
            </a:r>
            <a:r>
              <a:rPr dirty="0"/>
              <a:t> </a:t>
            </a:r>
            <a:r>
              <a:rPr dirty="0" err="1"/>
              <a:t>сессии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dirty="0"/>
              <a:t>Сессия </a:t>
            </a:r>
            <a:r>
              <a:rPr dirty="0" err="1"/>
              <a:t>описывается</a:t>
            </a:r>
            <a:r>
              <a:rPr dirty="0"/>
              <a:t> </a:t>
            </a:r>
            <a:r>
              <a:rPr dirty="0" err="1"/>
              <a:t>поведением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: </a:t>
            </a:r>
            <a:r>
              <a:rPr dirty="0" err="1"/>
              <a:t>страницы</a:t>
            </a:r>
            <a:r>
              <a:rPr dirty="0"/>
              <a:t>, </a:t>
            </a:r>
            <a:r>
              <a:rPr dirty="0" err="1"/>
              <a:t>длительность</a:t>
            </a:r>
            <a:r>
              <a:rPr dirty="0"/>
              <a:t>, </a:t>
            </a:r>
            <a:r>
              <a:rPr dirty="0" err="1"/>
              <a:t>отказы</a:t>
            </a:r>
            <a:r>
              <a:rPr dirty="0"/>
              <a:t>, </a:t>
            </a:r>
            <a:r>
              <a:rPr dirty="0" err="1"/>
              <a:t>выходы</a:t>
            </a:r>
            <a:r>
              <a:rPr dirty="0"/>
              <a:t>, </a:t>
            </a:r>
            <a:r>
              <a:rPr dirty="0" err="1"/>
              <a:t>месяц</a:t>
            </a:r>
            <a:r>
              <a:rPr dirty="0"/>
              <a:t>,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посетителя</a:t>
            </a:r>
            <a:r>
              <a:rPr dirty="0"/>
              <a:t>.</a:t>
            </a:r>
          </a:p>
        </p:txBody>
      </p:sp>
      <p:sp>
        <p:nvSpPr>
          <p:cNvPr id="9" name="Rounded Rectangle 168">
            <a:extLst>
              <a:ext uri="{FF2B5EF4-FFF2-40B4-BE49-F238E27FC236}">
                <a16:creationId xmlns:a16="http://schemas.microsoft.com/office/drawing/2014/main" id="{B329BCD4-2F1D-1E5B-23C6-A318595B5A37}"/>
              </a:ext>
            </a:extLst>
          </p:cNvPr>
          <p:cNvSpPr/>
          <p:nvPr/>
        </p:nvSpPr>
        <p:spPr bwMode="auto">
          <a:xfrm>
            <a:off x="4439816" y="1340768"/>
            <a:ext cx="3063240" cy="411480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>
                <a:solidFill>
                  <a:srgbClr val="FFFFFF"/>
                </a:solidFill>
                <a:latin typeface="Arial"/>
              </a:rPr>
              <a:t>Бизнес-задача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598C6-7F0A-71CF-C11D-3EDF7758590D}"/>
              </a:ext>
            </a:extLst>
          </p:cNvPr>
          <p:cNvSpPr txBox="1"/>
          <p:nvPr/>
        </p:nvSpPr>
        <p:spPr>
          <a:xfrm>
            <a:off x="4367808" y="1795122"/>
            <a:ext cx="3135248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По параметрам сессии предсказать, завершится ли она покупкой.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Использовать прогноз для персонализации предложений и маркетинговых действий.</a:t>
            </a:r>
          </a:p>
        </p:txBody>
      </p:sp>
      <p:sp>
        <p:nvSpPr>
          <p:cNvPr id="12" name="Rounded Rectangle 170">
            <a:extLst>
              <a:ext uri="{FF2B5EF4-FFF2-40B4-BE49-F238E27FC236}">
                <a16:creationId xmlns:a16="http://schemas.microsoft.com/office/drawing/2014/main" id="{B24DC769-B654-F11C-01B7-7BD4442A416A}"/>
              </a:ext>
            </a:extLst>
          </p:cNvPr>
          <p:cNvSpPr/>
          <p:nvPr/>
        </p:nvSpPr>
        <p:spPr bwMode="auto">
          <a:xfrm>
            <a:off x="8247888" y="1371600"/>
            <a:ext cx="2697480" cy="411480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>
                <a:solidFill>
                  <a:srgbClr val="FFFFFF"/>
                </a:solidFill>
                <a:latin typeface="Arial"/>
              </a:rPr>
              <a:t>Тип ML-задачи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E0F03-4693-2E0B-35F7-00E8594AE910}"/>
              </a:ext>
            </a:extLst>
          </p:cNvPr>
          <p:cNvSpPr txBox="1"/>
          <p:nvPr/>
        </p:nvSpPr>
        <p:spPr>
          <a:xfrm>
            <a:off x="8247888" y="1795122"/>
            <a:ext cx="2697480" cy="148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Бинарная классификация.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Target: </a:t>
            </a:r>
            <a:r>
              <a:rPr lang="ru-RU" dirty="0" err="1"/>
              <a:t>Revenue</a:t>
            </a:r>
            <a:r>
              <a:rPr lang="ru-RU" dirty="0"/>
              <a:t>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Классы: 1 — покупка, 0 — нет покупки.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Дисбаланс: покупок около 15.47%.</a:t>
            </a:r>
          </a:p>
        </p:txBody>
      </p:sp>
      <p:sp>
        <p:nvSpPr>
          <p:cNvPr id="15" name="Rounded Rectangle 172">
            <a:extLst>
              <a:ext uri="{FF2B5EF4-FFF2-40B4-BE49-F238E27FC236}">
                <a16:creationId xmlns:a16="http://schemas.microsoft.com/office/drawing/2014/main" id="{DFABD811-2A8A-2045-6EFB-85851A6A2D23}"/>
              </a:ext>
            </a:extLst>
          </p:cNvPr>
          <p:cNvSpPr/>
          <p:nvPr/>
        </p:nvSpPr>
        <p:spPr bwMode="auto">
          <a:xfrm>
            <a:off x="609480" y="3586049"/>
            <a:ext cx="3246120" cy="402336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Почему</a:t>
            </a:r>
            <a:r>
              <a:rPr sz="1680" b="1" dirty="0">
                <a:solidFill>
                  <a:srgbClr val="FFFFFF"/>
                </a:solidFill>
                <a:latin typeface="Arial"/>
              </a:rPr>
              <a:t> 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9A3E8B-563A-B3CB-7260-B3B04AAABE9E}"/>
              </a:ext>
            </a:extLst>
          </p:cNvPr>
          <p:cNvSpPr txBox="1"/>
          <p:nvPr/>
        </p:nvSpPr>
        <p:spPr>
          <a:xfrm>
            <a:off x="684747" y="3975892"/>
            <a:ext cx="2697480" cy="137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Признаки разнородные и взаимосвязанные.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Модели учитывают нелинейные зависимости.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Нужна вероятность покупки, а не только правило «да/нет».</a:t>
            </a:r>
          </a:p>
        </p:txBody>
      </p:sp>
      <p:sp>
        <p:nvSpPr>
          <p:cNvPr id="18" name="Rounded Rectangle 174">
            <a:extLst>
              <a:ext uri="{FF2B5EF4-FFF2-40B4-BE49-F238E27FC236}">
                <a16:creationId xmlns:a16="http://schemas.microsoft.com/office/drawing/2014/main" id="{26C69984-9268-3D89-2F4C-DD95EEC78F77}"/>
              </a:ext>
            </a:extLst>
          </p:cNvPr>
          <p:cNvSpPr/>
          <p:nvPr/>
        </p:nvSpPr>
        <p:spPr bwMode="auto">
          <a:xfrm>
            <a:off x="4367808" y="3573556"/>
            <a:ext cx="3135248" cy="402336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Ограничения</a:t>
            </a:r>
            <a:endParaRPr sz="168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407073-CC7A-0574-9B01-55757377722F}"/>
              </a:ext>
            </a:extLst>
          </p:cNvPr>
          <p:cNvSpPr txBox="1"/>
          <p:nvPr/>
        </p:nvSpPr>
        <p:spPr>
          <a:xfrm>
            <a:off x="4359424" y="4001367"/>
            <a:ext cx="3135248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Данные исторические: поведение пользователей может меняться.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Прогноз не является гарантией покупки.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Нужны мониторинг и переобучение.</a:t>
            </a:r>
          </a:p>
        </p:txBody>
      </p:sp>
      <p:sp>
        <p:nvSpPr>
          <p:cNvPr id="21" name="Rounded Rectangle 176">
            <a:extLst>
              <a:ext uri="{FF2B5EF4-FFF2-40B4-BE49-F238E27FC236}">
                <a16:creationId xmlns:a16="http://schemas.microsoft.com/office/drawing/2014/main" id="{0E35B230-0213-9789-559D-F1BC03119107}"/>
              </a:ext>
            </a:extLst>
          </p:cNvPr>
          <p:cNvSpPr/>
          <p:nvPr/>
        </p:nvSpPr>
        <p:spPr bwMode="auto">
          <a:xfrm>
            <a:off x="8372005" y="3586049"/>
            <a:ext cx="2788920" cy="402336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Ожидаемый</a:t>
            </a:r>
            <a:r>
              <a:rPr sz="168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80" b="1" dirty="0" err="1">
                <a:solidFill>
                  <a:srgbClr val="FFFFFF"/>
                </a:solidFill>
                <a:latin typeface="Arial"/>
              </a:rPr>
              <a:t>эффект</a:t>
            </a:r>
            <a:endParaRPr sz="168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182A8D-AD3D-9112-606F-E8201053EE23}"/>
              </a:ext>
            </a:extLst>
          </p:cNvPr>
          <p:cNvSpPr txBox="1"/>
          <p:nvPr/>
        </p:nvSpPr>
        <p:spPr>
          <a:xfrm>
            <a:off x="8372005" y="4001367"/>
            <a:ext cx="3135248" cy="137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Выделение сессий с высокой вероятностью покупки.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Более точные персональные предложения.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Поддержка решений маркетинга на основе данных.</a:t>
            </a:r>
          </a:p>
        </p:txBody>
      </p:sp>
      <p:sp>
        <p:nvSpPr>
          <p:cNvPr id="24" name="Rounded Rectangle 178">
            <a:extLst>
              <a:ext uri="{FF2B5EF4-FFF2-40B4-BE49-F238E27FC236}">
                <a16:creationId xmlns:a16="http://schemas.microsoft.com/office/drawing/2014/main" id="{E4B504AE-1837-8F39-9048-5E3DA59414CA}"/>
              </a:ext>
            </a:extLst>
          </p:cNvPr>
          <p:cNvSpPr/>
          <p:nvPr/>
        </p:nvSpPr>
        <p:spPr bwMode="auto">
          <a:xfrm>
            <a:off x="920708" y="5798663"/>
            <a:ext cx="10012680" cy="329184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60" b="1" dirty="0" err="1">
                <a:solidFill>
                  <a:srgbClr val="433E4D"/>
                </a:solidFill>
                <a:latin typeface="Arial"/>
              </a:rPr>
              <a:t>Итог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: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модель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решает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прикладную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задачу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прогнозирования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покупательского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намерения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и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может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быть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встроена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в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сервис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интернет-магазина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218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97343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/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Сбор, подготовка и анализ данных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3</a:t>
            </a:fld>
            <a:endParaRPr lang="ru-RU"/>
          </a:p>
        </p:txBody>
      </p:sp>
      <p:sp>
        <p:nvSpPr>
          <p:cNvPr id="125" name="Rounded Rectangle 124"/>
          <p:cNvSpPr/>
          <p:nvPr/>
        </p:nvSpPr>
        <p:spPr>
          <a:xfrm>
            <a:off x="914400" y="129844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12 330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440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строк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063240" y="129844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06324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колонок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212080" y="1298448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21208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пропусков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360920" y="129844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36092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входных признаков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32688" y="2880360"/>
            <a:ext cx="4434840" cy="192873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100" b="1" dirty="0" err="1">
                <a:solidFill>
                  <a:srgbClr val="433E4D"/>
                </a:solidFill>
                <a:latin typeface="Arial"/>
              </a:rPr>
              <a:t>Данные</a:t>
            </a:r>
            <a:endParaRPr sz="210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Источник</a:t>
            </a:r>
            <a:r>
              <a:rPr dirty="0"/>
              <a:t>: UCI Online Shoppers Purchasing Intention Dataset.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—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сессия</a:t>
            </a:r>
            <a:r>
              <a:rPr dirty="0"/>
              <a:t> </a:t>
            </a:r>
            <a:r>
              <a:rPr dirty="0" err="1"/>
              <a:t>интернет-магазина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/>
              <a:t>Файл </a:t>
            </a:r>
            <a:r>
              <a:rPr dirty="0" err="1"/>
              <a:t>проекта</a:t>
            </a:r>
            <a:r>
              <a:rPr dirty="0"/>
              <a:t>: data.csv.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80760" y="2880360"/>
            <a:ext cx="480060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100" b="1" dirty="0" err="1">
                <a:solidFill>
                  <a:srgbClr val="433E4D"/>
                </a:solidFill>
                <a:latin typeface="Arial"/>
              </a:rPr>
              <a:t>Группы</a:t>
            </a:r>
            <a:r>
              <a:rPr sz="21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433E4D"/>
                </a:solidFill>
                <a:latin typeface="Arial"/>
              </a:rPr>
              <a:t>признаков</a:t>
            </a:r>
            <a:endParaRPr sz="210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Числовые</a:t>
            </a:r>
            <a:r>
              <a:rPr dirty="0"/>
              <a:t>: </a:t>
            </a:r>
            <a:r>
              <a:rPr dirty="0" err="1"/>
              <a:t>длительности</a:t>
            </a:r>
            <a:r>
              <a:rPr dirty="0"/>
              <a:t>, </a:t>
            </a:r>
            <a:r>
              <a:rPr dirty="0" err="1"/>
              <a:t>PageValues</a:t>
            </a:r>
            <a:r>
              <a:rPr dirty="0"/>
              <a:t>, </a:t>
            </a:r>
            <a:r>
              <a:rPr dirty="0" err="1"/>
              <a:t>BounceRates</a:t>
            </a:r>
            <a:r>
              <a:rPr dirty="0"/>
              <a:t>, </a:t>
            </a:r>
            <a:r>
              <a:rPr dirty="0" err="1"/>
              <a:t>ExitRates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Категориальные</a:t>
            </a:r>
            <a:r>
              <a:rPr dirty="0"/>
              <a:t>: Month, </a:t>
            </a:r>
            <a:r>
              <a:rPr dirty="0" err="1"/>
              <a:t>VisitorType</a:t>
            </a:r>
            <a:r>
              <a:rPr dirty="0"/>
              <a:t>, Weekend, Browser, Region.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/>
              <a:t>Target: Revenue </a:t>
            </a:r>
            <a:r>
              <a:rPr dirty="0" err="1"/>
              <a:t>приведён</a:t>
            </a:r>
            <a:r>
              <a:rPr dirty="0"/>
              <a:t> к 0/1.</a:t>
            </a:r>
          </a:p>
        </p:txBody>
      </p:sp>
    </p:spTree>
    <p:extLst>
      <p:ext uri="{BB962C8B-B14F-4D97-AF65-F5344CB8AC3E}">
        <p14:creationId xmlns:p14="http://schemas.microsoft.com/office/powerpoint/2010/main" val="357111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72568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EDA: дисбаланс классов и поведенческие признаки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4</a:t>
            </a:fld>
            <a:endParaRPr lang="ru-RU"/>
          </a:p>
        </p:txBody>
      </p:sp>
      <p:pic>
        <p:nvPicPr>
          <p:cNvPr id="125" name="Picture 124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24744"/>
            <a:ext cx="4392488" cy="3120978"/>
          </a:xfrm>
          <a:prstGeom prst="rect">
            <a:avLst/>
          </a:prstGeom>
        </p:spPr>
      </p:pic>
      <p:pic>
        <p:nvPicPr>
          <p:cNvPr id="126" name="Picture 125" descr="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137" y="1025766"/>
            <a:ext cx="4657503" cy="3676976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9248640" y="1372785"/>
            <a:ext cx="2743200" cy="2606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/>
              <a:t>Покупок </a:t>
            </a:r>
            <a:r>
              <a:rPr dirty="0" err="1"/>
              <a:t>заметно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сессий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покупки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/>
              <a:t>Accuracy </a:t>
            </a:r>
            <a:r>
              <a:rPr dirty="0" err="1"/>
              <a:t>недостаточно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 err="1"/>
              <a:t>PageValues</a:t>
            </a:r>
            <a:r>
              <a:rPr dirty="0"/>
              <a:t> </a:t>
            </a:r>
            <a:r>
              <a:rPr dirty="0" err="1"/>
              <a:t>сильнее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Revenue,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большинство</a:t>
            </a:r>
            <a:r>
              <a:rPr dirty="0"/>
              <a:t> </a:t>
            </a:r>
            <a:r>
              <a:rPr dirty="0" err="1"/>
              <a:t>поведенческих</a:t>
            </a:r>
            <a:r>
              <a:rPr dirty="0"/>
              <a:t> </a:t>
            </a:r>
            <a:r>
              <a:rPr dirty="0" err="1"/>
              <a:t>признаков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/>
              <a:t>Выбросы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удалялись</a:t>
            </a:r>
            <a:r>
              <a:rPr dirty="0"/>
              <a:t>: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реальными</a:t>
            </a:r>
            <a:r>
              <a:rPr dirty="0"/>
              <a:t> </a:t>
            </a:r>
            <a:r>
              <a:rPr dirty="0" err="1"/>
              <a:t>длинными</a:t>
            </a:r>
            <a:r>
              <a:rPr dirty="0"/>
              <a:t> </a:t>
            </a:r>
            <a:r>
              <a:rPr dirty="0" err="1"/>
              <a:t>сессиями</a:t>
            </a:r>
            <a:r>
              <a:rPr dirty="0"/>
              <a:t>.</a:t>
            </a:r>
          </a:p>
        </p:txBody>
      </p:sp>
      <p:pic>
        <p:nvPicPr>
          <p:cNvPr id="128" name="Picture 127" descr="pagevalues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4" y="4287972"/>
            <a:ext cx="4757795" cy="2345392"/>
          </a:xfrm>
          <a:prstGeom prst="rect">
            <a:avLst/>
          </a:prstGeom>
        </p:spPr>
      </p:pic>
      <p:pic>
        <p:nvPicPr>
          <p:cNvPr id="129" name="Picture 128" descr="revenue_by_visitor_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091" y="4347059"/>
            <a:ext cx="4518071" cy="2227218"/>
          </a:xfrm>
          <a:prstGeom prst="rect">
            <a:avLst/>
          </a:prstGeom>
        </p:spPr>
      </p:pic>
      <p:sp>
        <p:nvSpPr>
          <p:cNvPr id="130" name="Rounded Rectangle 129"/>
          <p:cNvSpPr/>
          <p:nvPr/>
        </p:nvSpPr>
        <p:spPr>
          <a:xfrm>
            <a:off x="9354464" y="4287972"/>
            <a:ext cx="2651760" cy="84124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rial"/>
              </a:rPr>
              <a:t>Доля </a:t>
            </a:r>
            <a:r>
              <a:rPr sz="2300" b="1" dirty="0" err="1">
                <a:solidFill>
                  <a:srgbClr val="FFFFFF"/>
                </a:solidFill>
                <a:latin typeface="Arial"/>
              </a:rPr>
              <a:t>покупок</a:t>
            </a:r>
            <a:r>
              <a:rPr sz="2300" b="1" dirty="0">
                <a:solidFill>
                  <a:srgbClr val="FFFFFF"/>
                </a:solidFill>
                <a:latin typeface="Arial"/>
              </a:rPr>
              <a:t>: 15.47%</a:t>
            </a:r>
          </a:p>
        </p:txBody>
      </p:sp>
    </p:spTree>
    <p:extLst>
      <p:ext uri="{BB962C8B-B14F-4D97-AF65-F5344CB8AC3E}">
        <p14:creationId xmlns:p14="http://schemas.microsoft.com/office/powerpoint/2010/main" val="2988029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Baseline-модель и выбор методов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5</a:t>
            </a:fld>
            <a:endParaRPr lang="ru-RU"/>
          </a:p>
        </p:txBody>
      </p:sp>
      <p:sp>
        <p:nvSpPr>
          <p:cNvPr id="125" name="Rounded Rectangle 124"/>
          <p:cNvSpPr/>
          <p:nvPr/>
        </p:nvSpPr>
        <p:spPr>
          <a:xfrm>
            <a:off x="960120" y="1325880"/>
            <a:ext cx="2926080" cy="438912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Baseline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8755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Logistic Regression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class_weight="balanced"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Объясняет базовые зависимости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Recall = 0.7435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526280" y="1325880"/>
            <a:ext cx="2926080" cy="438912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Средняя модель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5371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Random Forest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300 деревьев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class_weight="balanced"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Precision = 0.7619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92440" y="1325880"/>
            <a:ext cx="2926080" cy="438912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Сильная модель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11987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CatBoostClassifier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500 итераций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learning_rate = 0.05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Лучший F1 = 0.6436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60120" y="4572000"/>
            <a:ext cx="9966960" cy="694944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433E4D"/>
                </a:solidFill>
                <a:latin typeface="Arial"/>
              </a:rPr>
              <a:t>Все модели обучались внутри sklearn Pipeline: preprocessing + estimator. Это позволяет backend принимать сырые пользовательские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16321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/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Гиперпараметры и сравнение моделей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6</a:t>
            </a:fld>
            <a:endParaRPr lang="ru-RU"/>
          </a:p>
        </p:txBody>
      </p:sp>
      <p:graphicFrame>
        <p:nvGraphicFramePr>
          <p:cNvPr id="125" name="Chart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758809"/>
              </p:ext>
            </p:extLst>
          </p:nvPr>
        </p:nvGraphicFramePr>
        <p:xfrm>
          <a:off x="841248" y="1345806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6" name="Rectangle 125"/>
          <p:cNvSpPr/>
          <p:nvPr/>
        </p:nvSpPr>
        <p:spPr>
          <a:xfrm>
            <a:off x="6355080" y="1417320"/>
            <a:ext cx="1325880" cy="384048"/>
          </a:xfrm>
          <a:prstGeom prst="rect">
            <a:avLst/>
          </a:prstGeom>
          <a:solidFill>
            <a:srgbClr val="433E4D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680960" y="1417320"/>
            <a:ext cx="658368" cy="384048"/>
          </a:xfrm>
          <a:prstGeom prst="rect">
            <a:avLst/>
          </a:prstGeom>
          <a:solidFill>
            <a:srgbClr val="433E4D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Accuracy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339328" y="1417320"/>
            <a:ext cx="713232" cy="384048"/>
          </a:xfrm>
          <a:prstGeom prst="rect">
            <a:avLst/>
          </a:prstGeom>
          <a:solidFill>
            <a:srgbClr val="433E4D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Precision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052560" y="1417320"/>
            <a:ext cx="658368" cy="384048"/>
          </a:xfrm>
          <a:prstGeom prst="rect">
            <a:avLst/>
          </a:prstGeom>
          <a:solidFill>
            <a:srgbClr val="433E4D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Recall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710928" y="1417320"/>
            <a:ext cx="530352" cy="384048"/>
          </a:xfrm>
          <a:prstGeom prst="rect">
            <a:avLst/>
          </a:prstGeom>
          <a:solidFill>
            <a:srgbClr val="433E4D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241280" y="1417320"/>
            <a:ext cx="749808" cy="384048"/>
          </a:xfrm>
          <a:prstGeom prst="rect">
            <a:avLst/>
          </a:prstGeom>
          <a:solidFill>
            <a:srgbClr val="433E4D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ROC-AUC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355080" y="1801368"/>
            <a:ext cx="1325880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24232A"/>
                </a:solidFill>
                <a:latin typeface="Arial"/>
              </a:rPr>
              <a:t>CatBoost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80960" y="1801368"/>
            <a:ext cx="658368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0.900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339328" y="1801368"/>
            <a:ext cx="713232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0.717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052560" y="1801368"/>
            <a:ext cx="658368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0.584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710928" y="1801368"/>
            <a:ext cx="530352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0.644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241280" y="1801368"/>
            <a:ext cx="749808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0.927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355080" y="2185416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24232A"/>
                </a:solidFill>
                <a:latin typeface="Arial"/>
              </a:rPr>
              <a:t>Logistic Regression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80960" y="2185416"/>
            <a:ext cx="6583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0.841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339328" y="2185416"/>
            <a:ext cx="71323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0.491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052560" y="2185416"/>
            <a:ext cx="65836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0.743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710928" y="2185416"/>
            <a:ext cx="530352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0.592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1280" y="2185416"/>
            <a:ext cx="749808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0.893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355080" y="2569464"/>
            <a:ext cx="1325880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24232A"/>
                </a:solidFill>
                <a:latin typeface="Arial"/>
              </a:rPr>
              <a:t>Random Forest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680960" y="2569464"/>
            <a:ext cx="658368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0.894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339328" y="2569464"/>
            <a:ext cx="713232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 dirty="0">
                <a:solidFill>
                  <a:srgbClr val="24232A"/>
                </a:solidFill>
                <a:latin typeface="Arial"/>
              </a:rPr>
              <a:t>0.762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052560" y="2569464"/>
            <a:ext cx="658368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0.461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710928" y="2569464"/>
            <a:ext cx="530352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 dirty="0">
                <a:solidFill>
                  <a:srgbClr val="24232A"/>
                </a:solidFill>
                <a:latin typeface="Arial"/>
              </a:rPr>
              <a:t>0.574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241280" y="2569464"/>
            <a:ext cx="749808" cy="384048"/>
          </a:xfrm>
          <a:prstGeom prst="rect">
            <a:avLst/>
          </a:prstGeom>
          <a:solidFill>
            <a:srgbClr val="F4F8F9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24232A"/>
                </a:solidFill>
                <a:latin typeface="Arial"/>
              </a:rPr>
              <a:t>0.918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00800" y="4160520"/>
            <a:ext cx="4526280" cy="1143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24232A"/>
                </a:solidFill>
                <a:latin typeface="Arial"/>
              </a:defRPr>
            </a:pPr>
            <a:r>
              <a:rPr dirty="0" err="1"/>
              <a:t>CatBoost</a:t>
            </a:r>
            <a:r>
              <a:rPr dirty="0"/>
              <a:t> </a:t>
            </a:r>
            <a:r>
              <a:rPr dirty="0" err="1"/>
              <a:t>выбран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F1-score.</a:t>
            </a:r>
          </a:p>
          <a:p>
            <a:pPr>
              <a:spcAft>
                <a:spcPts val="500"/>
              </a:spcAft>
              <a:defRPr sz="1450">
                <a:solidFill>
                  <a:srgbClr val="24232A"/>
                </a:solidFill>
                <a:latin typeface="Arial"/>
              </a:defRPr>
            </a:pPr>
            <a:r>
              <a:rPr dirty="0"/>
              <a:t>Logistic Regression </a:t>
            </a:r>
            <a:r>
              <a:rPr dirty="0" err="1"/>
              <a:t>полезна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baseline и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максимальный</a:t>
            </a:r>
            <a:r>
              <a:rPr dirty="0"/>
              <a:t> recall.</a:t>
            </a:r>
          </a:p>
          <a:p>
            <a:pPr>
              <a:spcAft>
                <a:spcPts val="500"/>
              </a:spcAft>
              <a:defRPr sz="1450">
                <a:solidFill>
                  <a:srgbClr val="24232A"/>
                </a:solidFill>
                <a:latin typeface="Arial"/>
              </a:defRPr>
            </a:pPr>
            <a:r>
              <a:rPr dirty="0"/>
              <a:t>Random Forest: </a:t>
            </a:r>
            <a:r>
              <a:rPr dirty="0" err="1"/>
              <a:t>высокий</a:t>
            </a:r>
            <a:r>
              <a:rPr dirty="0"/>
              <a:t> precision,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ниже</a:t>
            </a:r>
            <a:r>
              <a:rPr dirty="0"/>
              <a:t> recall.</a:t>
            </a:r>
          </a:p>
        </p:txBody>
      </p:sp>
    </p:spTree>
    <p:extLst>
      <p:ext uri="{BB962C8B-B14F-4D97-AF65-F5344CB8AC3E}">
        <p14:creationId xmlns:p14="http://schemas.microsoft.com/office/powerpoint/2010/main" val="134837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72568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Качество модели и корректность валидации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7</a:t>
            </a:fld>
            <a:endParaRPr lang="ru-RU" dirty="0"/>
          </a:p>
        </p:txBody>
      </p:sp>
      <p:sp>
        <p:nvSpPr>
          <p:cNvPr id="125" name="TextBox 124"/>
          <p:cNvSpPr txBox="1"/>
          <p:nvPr/>
        </p:nvSpPr>
        <p:spPr>
          <a:xfrm>
            <a:off x="932688" y="1325880"/>
            <a:ext cx="438912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020" b="1" dirty="0" err="1">
                <a:solidFill>
                  <a:srgbClr val="433E4D"/>
                </a:solidFill>
                <a:latin typeface="Arial"/>
              </a:rPr>
              <a:t>Схема</a:t>
            </a:r>
            <a:r>
              <a:rPr sz="202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020" b="1" dirty="0" err="1">
                <a:solidFill>
                  <a:srgbClr val="433E4D"/>
                </a:solidFill>
                <a:latin typeface="Arial"/>
              </a:rPr>
              <a:t>проверки</a:t>
            </a:r>
            <a:endParaRPr sz="202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500"/>
              </a:spcAft>
              <a:defRPr sz="1720">
                <a:solidFill>
                  <a:srgbClr val="24232A"/>
                </a:solidFill>
                <a:latin typeface="Arial"/>
              </a:defRPr>
            </a:pPr>
            <a:r>
              <a:rPr dirty="0" err="1"/>
              <a:t>Разделение</a:t>
            </a:r>
            <a:r>
              <a:rPr dirty="0"/>
              <a:t> train/test: 80/20.</a:t>
            </a:r>
          </a:p>
          <a:p>
            <a:pPr>
              <a:spcAft>
                <a:spcPts val="500"/>
              </a:spcAft>
              <a:defRPr sz="1720">
                <a:solidFill>
                  <a:srgbClr val="24232A"/>
                </a:solidFill>
                <a:latin typeface="Arial"/>
              </a:defRPr>
            </a:pPr>
            <a:r>
              <a:rPr dirty="0" err="1"/>
              <a:t>Стратификация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Revenue </a:t>
            </a: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долю</a:t>
            </a:r>
            <a:r>
              <a:rPr dirty="0"/>
              <a:t> </a:t>
            </a:r>
            <a:r>
              <a:rPr dirty="0" err="1"/>
              <a:t>покупок</a:t>
            </a:r>
            <a:r>
              <a:rPr dirty="0"/>
              <a:t> в </a:t>
            </a:r>
            <a:r>
              <a:rPr dirty="0" err="1"/>
              <a:t>обеих</a:t>
            </a:r>
            <a:r>
              <a:rPr dirty="0"/>
              <a:t> </a:t>
            </a:r>
            <a:r>
              <a:rPr dirty="0" err="1"/>
              <a:t>выборках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720">
                <a:solidFill>
                  <a:srgbClr val="24232A"/>
                </a:solidFill>
                <a:latin typeface="Arial"/>
              </a:defRPr>
            </a:pPr>
            <a:r>
              <a:rPr dirty="0"/>
              <a:t>Preprocessing </a:t>
            </a:r>
            <a:r>
              <a:rPr dirty="0" err="1"/>
              <a:t>обучается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train </a:t>
            </a:r>
            <a:r>
              <a:rPr dirty="0" err="1"/>
              <a:t>внутри</a:t>
            </a:r>
            <a:r>
              <a:rPr dirty="0"/>
              <a:t> Pipeline.</a:t>
            </a:r>
          </a:p>
          <a:p>
            <a:pPr>
              <a:spcAft>
                <a:spcPts val="500"/>
              </a:spcAft>
              <a:defRPr sz="1720">
                <a:solidFill>
                  <a:srgbClr val="24232A"/>
                </a:solidFill>
                <a:latin typeface="Arial"/>
              </a:defRPr>
            </a:pPr>
            <a:r>
              <a:rPr dirty="0"/>
              <a:t>Основной </a:t>
            </a: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: F1-score.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897880" y="1389888"/>
            <a:ext cx="1920240" cy="56692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CatBoost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897880" y="2240280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0.900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897880" y="291693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Accuracy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92440" y="2240280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0.644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92440" y="291693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F1-score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97880" y="3703320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0.927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897880" y="437997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ROC-AUC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92440" y="3703320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0.584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92440" y="437997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Recall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63352" y="4619808"/>
            <a:ext cx="1867942" cy="622246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ru-RU" sz="1500" b="1" dirty="0">
                <a:solidFill>
                  <a:srgbClr val="433E4D"/>
                </a:solidFill>
                <a:latin typeface="Arial"/>
              </a:rPr>
              <a:t>Истинно Отрицательный</a:t>
            </a:r>
            <a:r>
              <a:rPr sz="1500" b="1" dirty="0">
                <a:solidFill>
                  <a:srgbClr val="433E4D"/>
                </a:solidFill>
                <a:latin typeface="Arial"/>
              </a:rPr>
              <a:t> 1996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268454" y="4610088"/>
            <a:ext cx="2027346" cy="631966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ru-RU" sz="1500" b="1" dirty="0">
                <a:solidFill>
                  <a:srgbClr val="433E4D"/>
                </a:solidFill>
                <a:latin typeface="Arial"/>
              </a:rPr>
              <a:t>Ложно положительный</a:t>
            </a:r>
            <a:br>
              <a:rPr lang="ru-RU" sz="1500" b="1" dirty="0">
                <a:solidFill>
                  <a:srgbClr val="433E4D"/>
                </a:solidFill>
                <a:latin typeface="Arial"/>
              </a:rPr>
            </a:br>
            <a:r>
              <a:rPr sz="1500" b="1" dirty="0">
                <a:solidFill>
                  <a:srgbClr val="433E4D"/>
                </a:solidFill>
                <a:latin typeface="Arial"/>
              </a:rPr>
              <a:t> 88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63352" y="5312664"/>
            <a:ext cx="1867942" cy="641506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ru-RU" sz="1500" b="1" dirty="0">
                <a:solidFill>
                  <a:srgbClr val="433E4D"/>
                </a:solidFill>
                <a:latin typeface="Arial"/>
              </a:rPr>
              <a:t>Ложно Отрицательный</a:t>
            </a:r>
            <a:r>
              <a:rPr sz="1500" b="1" dirty="0">
                <a:solidFill>
                  <a:srgbClr val="433E4D"/>
                </a:solidFill>
                <a:latin typeface="Arial"/>
              </a:rPr>
              <a:t> 159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268454" y="5312664"/>
            <a:ext cx="2027346" cy="631966"/>
          </a:xfrm>
          <a:prstGeom prst="roundRect">
            <a:avLst/>
          </a:prstGeom>
          <a:solidFill>
            <a:srgbClr val="89C400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  <a:latin typeface="Arial"/>
              </a:rPr>
              <a:t>Истинно положительный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223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FA6F4-0E02-DD1F-DDDD-943172CA462D}"/>
              </a:ext>
            </a:extLst>
          </p:cNvPr>
          <p:cNvSpPr txBox="1"/>
          <p:nvPr/>
        </p:nvSpPr>
        <p:spPr>
          <a:xfrm>
            <a:off x="840322" y="4130546"/>
            <a:ext cx="240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Матрица неточности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412594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87651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Интерпретация результатов и прикладные выводы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8</a:t>
            </a:fld>
            <a:endParaRPr lang="ru-RU"/>
          </a:p>
        </p:txBody>
      </p:sp>
      <p:pic>
        <p:nvPicPr>
          <p:cNvPr id="125" name="Picture 124" descr="exitrat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" y="1510100"/>
            <a:ext cx="4376478" cy="2895209"/>
          </a:xfrm>
          <a:prstGeom prst="rect">
            <a:avLst/>
          </a:prstGeom>
        </p:spPr>
      </p:pic>
      <p:pic>
        <p:nvPicPr>
          <p:cNvPr id="126" name="Picture 125" descr="bouncerate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371" y="1425780"/>
            <a:ext cx="4522057" cy="2991515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8909082" y="1527623"/>
            <a:ext cx="329184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 err="1"/>
              <a:t>PageValues</a:t>
            </a:r>
            <a:r>
              <a:rPr dirty="0"/>
              <a:t> — </a:t>
            </a:r>
            <a:r>
              <a:rPr dirty="0" err="1"/>
              <a:t>сильный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 </a:t>
            </a:r>
            <a:r>
              <a:rPr dirty="0" err="1"/>
              <a:t>потенциальной</a:t>
            </a:r>
            <a:r>
              <a:rPr dirty="0"/>
              <a:t> </a:t>
            </a:r>
            <a:r>
              <a:rPr dirty="0" err="1"/>
              <a:t>покупки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 err="1"/>
              <a:t>Высокие</a:t>
            </a:r>
            <a:r>
              <a:rPr dirty="0"/>
              <a:t> </a:t>
            </a:r>
            <a:r>
              <a:rPr dirty="0" err="1"/>
              <a:t>ExitRates</a:t>
            </a:r>
            <a:r>
              <a:rPr dirty="0"/>
              <a:t> и </a:t>
            </a:r>
            <a:r>
              <a:rPr dirty="0" err="1"/>
              <a:t>BounceRates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</a:t>
            </a:r>
            <a:r>
              <a:rPr dirty="0" err="1"/>
              <a:t>меньшей</a:t>
            </a:r>
            <a:r>
              <a:rPr dirty="0"/>
              <a:t> </a:t>
            </a:r>
            <a:r>
              <a:rPr dirty="0" err="1"/>
              <a:t>вовлечённостью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/>
              <a:t>Тип </a:t>
            </a:r>
            <a:r>
              <a:rPr dirty="0" err="1"/>
              <a:t>посетителя</a:t>
            </a:r>
            <a:r>
              <a:rPr dirty="0"/>
              <a:t> и </a:t>
            </a:r>
            <a:r>
              <a:rPr dirty="0" err="1"/>
              <a:t>месяц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учитывать</a:t>
            </a:r>
            <a:r>
              <a:rPr dirty="0"/>
              <a:t> </a:t>
            </a:r>
            <a:r>
              <a:rPr dirty="0" err="1"/>
              <a:t>сезонность</a:t>
            </a:r>
            <a:r>
              <a:rPr dirty="0"/>
              <a:t> и </a:t>
            </a:r>
            <a:r>
              <a:rPr dirty="0" err="1"/>
              <a:t>поведение</a:t>
            </a:r>
            <a:r>
              <a:rPr dirty="0"/>
              <a:t>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04544" y="4560303"/>
            <a:ext cx="2926080" cy="438912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Рекомендации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50264" y="5108944"/>
            <a:ext cx="420624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4232A"/>
                </a:solidFill>
                <a:latin typeface="Arial"/>
              </a:defRPr>
            </a:pPr>
            <a:r>
              <a:t>Использовать прогноз как дополнительный сигнал для персонализации, а не как единственный критерий решения.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79722" y="4450574"/>
            <a:ext cx="2926080" cy="438912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900" b="1" dirty="0" err="1">
                <a:solidFill>
                  <a:srgbClr val="FFFFFF"/>
                </a:solidFill>
                <a:latin typeface="Arial"/>
              </a:rPr>
              <a:t>Ограничения</a:t>
            </a:r>
            <a:endParaRPr sz="1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425442" y="4999215"/>
            <a:ext cx="4526280" cy="584775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Датасет</a:t>
            </a:r>
            <a:r>
              <a:rPr dirty="0"/>
              <a:t> </a:t>
            </a:r>
            <a:r>
              <a:rPr dirty="0" err="1"/>
              <a:t>исторический</a:t>
            </a:r>
            <a:r>
              <a:rPr dirty="0"/>
              <a:t>; </a:t>
            </a:r>
            <a:r>
              <a:rPr dirty="0" err="1"/>
              <a:t>для</a:t>
            </a:r>
            <a:r>
              <a:rPr dirty="0"/>
              <a:t> production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мониторинг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,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41248" y="6272784"/>
            <a:ext cx="84124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5C5C64"/>
                </a:solidFill>
                <a:latin typeface="Arial"/>
              </a:rPr>
              <a:t>Интерпретация основана на EDA и поведении моделей на test-выборке.</a:t>
            </a:r>
          </a:p>
        </p:txBody>
      </p:sp>
    </p:spTree>
    <p:extLst>
      <p:ext uri="{BB962C8B-B14F-4D97-AF65-F5344CB8AC3E}">
        <p14:creationId xmlns:p14="http://schemas.microsoft.com/office/powerpoint/2010/main" val="238054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331646"/>
            <a:ext cx="10524584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Использование современных инструментов и сервисов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9</a:t>
            </a:fld>
            <a:endParaRPr lang="ru-RU"/>
          </a:p>
        </p:txBody>
      </p:sp>
      <p:sp>
        <p:nvSpPr>
          <p:cNvPr id="125" name="Rounded Rectangle 124"/>
          <p:cNvSpPr/>
          <p:nvPr/>
        </p:nvSpPr>
        <p:spPr>
          <a:xfrm>
            <a:off x="914400" y="1325880"/>
            <a:ext cx="2468880" cy="6400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Raw JSON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703320" y="1325880"/>
            <a:ext cx="2468880" cy="640080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Pipeline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92240" y="1325880"/>
            <a:ext cx="2468880" cy="640080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281160" y="1325880"/>
            <a:ext cx="1828800" cy="6400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3814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2706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1598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60120" y="2468880"/>
            <a:ext cx="466344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000" b="1">
                <a:solidFill>
                  <a:srgbClr val="433E4D"/>
                </a:solidFill>
                <a:latin typeface="Arial"/>
              </a:rPr>
              <a:t>Инференс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Backend endpoint: POST /predict.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Модель сохранена как полный preprocessing + estimator pipeline.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API возвращает prediction, prediction_label и purchase_probability.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Swagger доступен на /docs.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0" y="2468880"/>
            <a:ext cx="438912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000" b="1" dirty="0" err="1">
                <a:solidFill>
                  <a:srgbClr val="433E4D"/>
                </a:solidFill>
                <a:latin typeface="Arial"/>
              </a:rPr>
              <a:t>Инструменты</a:t>
            </a:r>
            <a:endParaRPr sz="200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/>
              <a:t>Google </a:t>
            </a:r>
            <a:r>
              <a:rPr dirty="0" err="1"/>
              <a:t>Colab</a:t>
            </a:r>
            <a:r>
              <a:rPr dirty="0"/>
              <a:t> notebook: EDA + </a:t>
            </a:r>
            <a:r>
              <a:rPr dirty="0" err="1"/>
              <a:t>обучение</a:t>
            </a:r>
            <a:r>
              <a:rPr dirty="0"/>
              <a:t> + </a:t>
            </a:r>
            <a:r>
              <a:rPr dirty="0" err="1"/>
              <a:t>сравнение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/>
              <a:t>Frontend: HTML/CSS/JavaScript </a:t>
            </a:r>
            <a:r>
              <a:rPr dirty="0" err="1"/>
              <a:t>форма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демонстрации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/>
              <a:t>Артефакты: </a:t>
            </a:r>
            <a:r>
              <a:rPr dirty="0" err="1"/>
              <a:t>best_model.pkl</a:t>
            </a:r>
            <a:r>
              <a:rPr dirty="0"/>
              <a:t>, </a:t>
            </a:r>
            <a:r>
              <a:rPr dirty="0" err="1"/>
              <a:t>metadata.json</a:t>
            </a:r>
            <a:r>
              <a:rPr dirty="0"/>
              <a:t>, model_comparison.csv.</a:t>
            </a:r>
          </a:p>
        </p:txBody>
      </p:sp>
    </p:spTree>
    <p:extLst>
      <p:ext uri="{BB962C8B-B14F-4D97-AF65-F5344CB8AC3E}">
        <p14:creationId xmlns:p14="http://schemas.microsoft.com/office/powerpoint/2010/main" val="1374095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 dirty="0" err="1">
                <a:solidFill>
                  <a:srgbClr val="433E4D"/>
                </a:solidFill>
                <a:latin typeface="Arial"/>
              </a:rPr>
              <a:t>Результаты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10</a:t>
            </a:fld>
            <a:endParaRPr lang="ru-RU"/>
          </a:p>
        </p:txBody>
      </p:sp>
      <p:sp>
        <p:nvSpPr>
          <p:cNvPr id="125" name="Rounded Rectangle 124"/>
          <p:cNvSpPr/>
          <p:nvPr/>
        </p:nvSpPr>
        <p:spPr>
          <a:xfrm>
            <a:off x="914400" y="1325880"/>
            <a:ext cx="365760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Итог проекта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0120" y="2148840"/>
            <a:ext cx="4754880" cy="2286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Реализован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ML-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EDA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веб-демонстрации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Обучены</a:t>
            </a:r>
            <a:r>
              <a:rPr dirty="0"/>
              <a:t> и </a:t>
            </a:r>
            <a:r>
              <a:rPr dirty="0" err="1"/>
              <a:t>сравнены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Лучшая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— </a:t>
            </a:r>
            <a:r>
              <a:rPr dirty="0" err="1"/>
              <a:t>CatBoost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F1-score.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/>
              <a:t>Backend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сырые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/>
              <a:t>вероятность</a:t>
            </a:r>
            <a:r>
              <a:rPr dirty="0"/>
              <a:t> </a:t>
            </a:r>
            <a:r>
              <a:rPr dirty="0" err="1"/>
              <a:t>покупки</a:t>
            </a:r>
            <a:r>
              <a:rPr dirty="0"/>
              <a:t>.</a:t>
            </a:r>
            <a:endParaRPr lang="ru-RU" dirty="0"/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Реализован </a:t>
            </a:r>
            <a:r>
              <a:rPr lang="en-US" dirty="0"/>
              <a:t>Frontend</a:t>
            </a:r>
            <a:endParaRPr dirty="0"/>
          </a:p>
        </p:txBody>
      </p:sp>
      <p:sp>
        <p:nvSpPr>
          <p:cNvPr id="127" name="Rounded Rectangle 126"/>
          <p:cNvSpPr/>
          <p:nvPr/>
        </p:nvSpPr>
        <p:spPr>
          <a:xfrm>
            <a:off x="6400800" y="138988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0.6436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00800" y="2066543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F1-score лучшей модели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732520" y="138988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0.9272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732520" y="2066543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ROC-AUC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400800" y="2926080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00800" y="360273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модели обучены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732520" y="2926080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732520" y="360273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готовый web demo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800600"/>
            <a:ext cx="4251960" cy="71323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433E4D"/>
                </a:solidFill>
                <a:latin typeface="Arial"/>
              </a:rPr>
              <a:t>Следующий шаг: мониторинг качества и регулярное переобучение на новых сессиях.</a:t>
            </a:r>
          </a:p>
        </p:txBody>
      </p:sp>
    </p:spTree>
    <p:extLst>
      <p:ext uri="{BB962C8B-B14F-4D97-AF65-F5344CB8AC3E}">
        <p14:creationId xmlns:p14="http://schemas.microsoft.com/office/powerpoint/2010/main" val="268533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FFBD55-AFCC-F912-BC5D-4D5DAC858B5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E499F4-B46E-A99E-EEDE-0BB95DA5221E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F0B5FAB6-39D5-4FDF-86A9-A6853609F403}" type="slidenum">
              <a:rPr lang="ru-RU" smtClean="0"/>
              <a:t>11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AEA8305-BD37-2651-D313-453D833ACC49}"/>
              </a:ext>
            </a:extLst>
          </p:cNvPr>
          <p:cNvSpPr/>
          <p:nvPr/>
        </p:nvSpPr>
        <p:spPr bwMode="auto">
          <a:xfrm>
            <a:off x="608686" y="404664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 dirty="0" err="1">
                <a:solidFill>
                  <a:srgbClr val="433E4D"/>
                </a:solidFill>
                <a:latin typeface="Arial"/>
              </a:rPr>
              <a:t>Результаты</a:t>
            </a:r>
            <a:endParaRPr lang="ru-RU" sz="2800" b="0" strike="noStrike" spc="-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992C66-2498-1FF2-1430-2F5AEB023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6200"/>
            <a:ext cx="5917346" cy="507818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C5C1EE8-DA4B-AA86-8C6B-7206B8ABE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346" y="1277153"/>
            <a:ext cx="5723657" cy="507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3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 idx="4294967295"/>
          </p:nvPr>
        </p:nvSpPr>
        <p:spPr bwMode="auto">
          <a:xfrm>
            <a:off x="1487488" y="3173798"/>
            <a:ext cx="9140400" cy="9848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ru-RU" sz="3200" b="1" spc="-1" dirty="0">
                <a:solidFill>
                  <a:srgbClr val="FFFFFF"/>
                </a:solidFill>
                <a:latin typeface="+mn-lt"/>
              </a:rPr>
              <a:t>Покупательское намерение в интернет-магазине</a:t>
            </a:r>
            <a:endParaRPr lang="ru-RU" sz="3200" b="1" strike="noStrike" spc="-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PlaceHolder 1"/>
          <p:cNvSpPr txBox="1">
            <a:spLocks/>
          </p:cNvSpPr>
          <p:nvPr/>
        </p:nvSpPr>
        <p:spPr bwMode="auto">
          <a:xfrm>
            <a:off x="1487488" y="4684383"/>
            <a:ext cx="9140400" cy="3077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spc="-1" dirty="0">
                <a:solidFill>
                  <a:srgbClr val="FFFFFF"/>
                </a:solidFill>
                <a:latin typeface="+mn-lt"/>
              </a:rPr>
              <a:t>Загиров Матвей Денисович</a:t>
            </a:r>
          </a:p>
        </p:txBody>
      </p:sp>
      <p:sp>
        <p:nvSpPr>
          <p:cNvPr id="4" name="PlaceHolder 1"/>
          <p:cNvSpPr txBox="1">
            <a:spLocks/>
          </p:cNvSpPr>
          <p:nvPr/>
        </p:nvSpPr>
        <p:spPr bwMode="auto">
          <a:xfrm>
            <a:off x="1487488" y="5018582"/>
            <a:ext cx="9140400" cy="215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1400" i="1" spc="-1" dirty="0">
                <a:solidFill>
                  <a:srgbClr val="FFFFFF"/>
                </a:solidFill>
                <a:latin typeface="+mn-lt"/>
              </a:rPr>
              <a:t>Искусственный интеллект. Алгоритмы машинного обучения на языке </a:t>
            </a:r>
            <a:r>
              <a:rPr lang="ru-RU" sz="1400" i="1" spc="-1" dirty="0" err="1">
                <a:solidFill>
                  <a:srgbClr val="FFFFFF"/>
                </a:solidFill>
                <a:latin typeface="+mn-lt"/>
              </a:rPr>
              <a:t>Python</a:t>
            </a:r>
            <a:endParaRPr lang="ru-RU" sz="1400" i="1" spc="-1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493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729</Words>
  <Application>Microsoft Office PowerPoint</Application>
  <DocSecurity>0</DocSecurity>
  <PresentationFormat>Широкоэкранный</PresentationFormat>
  <Paragraphs>173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Arial</vt:lpstr>
      <vt:lpstr>Calibri</vt:lpstr>
      <vt:lpstr>Nekst</vt:lpstr>
      <vt:lpstr>Symbol</vt:lpstr>
      <vt:lpstr>Times New Roman</vt:lpstr>
      <vt:lpstr>Verdana</vt:lpstr>
      <vt:lpstr>Wingdings</vt:lpstr>
      <vt:lpstr>Office Theme</vt:lpstr>
      <vt:lpstr>Office Theme</vt:lpstr>
      <vt:lpstr>Покупательское намерение в интернет-магазине</vt:lpstr>
      <vt:lpstr>Постановка задачи и анализ предметной области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Покупательское намерение в интернет-магазине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Анастасия Г. Козлова</dc:creator>
  <cp:keywords/>
  <dc:description/>
  <cp:lastModifiedBy>Матвей Загиров</cp:lastModifiedBy>
  <cp:revision>103</cp:revision>
  <dcterms:created xsi:type="dcterms:W3CDTF">2023-08-24T08:06:00Z</dcterms:created>
  <dcterms:modified xsi:type="dcterms:W3CDTF">2026-05-08T13:59:16Z</dcterms:modified>
  <cp:category/>
  <dc:identifier/>
  <cp:contentStatus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4</vt:i4>
  </property>
</Properties>
</file>