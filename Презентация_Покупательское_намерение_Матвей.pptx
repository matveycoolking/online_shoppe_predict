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7"/>
  </p:notesMasterIdLst>
  <p:sldIdLst>
    <p:sldId id="280" r:id="rId3"/>
    <p:sldId id="277" r:id="rId4"/>
    <p:sldId id="265" r:id="rId5"/>
    <p:sldId id="267" r:id="rId6"/>
    <p:sldId id="268" r:id="rId7"/>
    <p:sldId id="269" r:id="rId8"/>
    <p:sldId id="270" r:id="rId9"/>
    <p:sldId id="271" r:id="rId10"/>
    <p:sldId id="273" r:id="rId11"/>
    <p:sldId id="282" r:id="rId12"/>
    <p:sldId id="278" r:id="rId13"/>
    <p:sldId id="274" r:id="rId14"/>
    <p:sldId id="283" r:id="rId15"/>
    <p:sldId id="279" r:id="rId16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 userDrawn="1">
          <p15:clr>
            <a:srgbClr val="A4A3A4"/>
          </p15:clr>
        </p15:guide>
        <p15:guide id="2" pos="574" userDrawn="1">
          <p15:clr>
            <a:srgbClr val="A4A3A4"/>
          </p15:clr>
        </p15:guide>
        <p15:guide id="3" pos="7106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660"/>
  </p:normalViewPr>
  <p:slideViewPr>
    <p:cSldViewPr>
      <p:cViewPr varScale="1">
        <p:scale>
          <a:sx n="70" d="100"/>
          <a:sy n="70" d="100"/>
        </p:scale>
        <p:origin x="420" y="56"/>
      </p:cViewPr>
      <p:guideLst>
        <p:guide orient="horz" pos="1207"/>
        <p:guide pos="574"/>
        <p:guide pos="7106"/>
        <p:guide pos="3840"/>
        <p:guide orient="horz" pos="392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6D79AF-EB0E-4FDF-9D49-C7DCB37EA06D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200A0-0AF5-4110-9DCF-5EE5836CE4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847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ED4AA372-6A96-47DD-805E-C015AA8C3DB6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F0B5FAB6-39D5-4FDF-86A9-A6853609F403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6EF000E4-E15D-4C45-831D-DFCE7C230E36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D69A5F12-5C8B-4C1A-AB7D-DA8BC0D5FC9B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C772EA4A-DBEE-4461-9CC8-F4ACC24D76E6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98AA72D6-5E9E-40BA-9025-E59015FE2A25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8A06A4D2-C7D3-4AB7-A69C-5A45409B9F54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937D6418-062D-44DF-A032-4ED7A09F31BB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3D0EB58E-09F9-41FD-87E0-ADDB04F4D7C8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9D4EDC22-D933-4D27-BE80-144C99A3E350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7C302F91-6E27-465C-AFBE-8DE38869F983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0F271771-34CE-482F-82AA-FF0937B29EDE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r>
              <a:rPr lang="ru-RU" sz="4400" b="0" strike="noStrike" spc="-1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strike="noStrike" spc="-1">
                <a:latin typeface="Arial"/>
              </a:rPr>
              <a:t>Click to edit the outline text format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latin typeface="Arial"/>
              </a:rPr>
              <a:t>Second Outline Level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strike="noStrike" spc="-1">
                <a:latin typeface="Arial"/>
              </a:rPr>
              <a:t>Third Outline Level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strike="noStrike" spc="-1">
                <a:latin typeface="Arial"/>
              </a:rPr>
              <a:t>Fourth Outline Level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Fifth Outline Level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Sixth Outline Level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1"/>
          </p:nvPr>
        </p:nvSpPr>
        <p:spPr bwMode="auto">
          <a:xfrm>
            <a:off x="4038480" y="6356520"/>
            <a:ext cx="4111200" cy="36143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ru-RU" sz="1400" b="0" strike="noStrike" spc="-1">
                <a:latin typeface="Nekst"/>
              </a:defRPr>
            </a:lvl1pPr>
          </a:lstStyle>
          <a:p>
            <a:pPr algn="ctr">
              <a:lnSpc>
                <a:spcPct val="100000"/>
              </a:lnSpc>
              <a:buNone/>
              <a:defRPr/>
            </a:pPr>
            <a:r>
              <a:rPr lang="en-US" sz="1400" b="0" strike="noStrike" spc="-1">
                <a:latin typeface="Nekst"/>
              </a:rPr>
              <a:t>Footer</a:t>
            </a:r>
            <a:endParaRPr lang="ru-RU" sz="1400" b="0" strike="noStrike" spc="-1"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3"/>
          </p:nvPr>
        </p:nvSpPr>
        <p:spPr bwMode="auto">
          <a:xfrm>
            <a:off x="838080" y="6356520"/>
            <a:ext cx="2739600" cy="36143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ru-RU" sz="1400" b="0" strike="noStrike" spc="-1">
                <a:latin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" name="PlaceHolder 4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r>
              <a:rPr lang="ru-RU" sz="4400" b="0" strike="noStrike" spc="-1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strike="noStrike" spc="-1">
                <a:latin typeface="Arial"/>
              </a:rPr>
              <a:t>Click to edit the outline text format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latin typeface="Arial"/>
              </a:rPr>
              <a:t>Second Outline Level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strike="noStrike" spc="-1">
                <a:latin typeface="Arial"/>
              </a:rPr>
              <a:t>Third Outline Level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strike="noStrike" spc="-1">
                <a:latin typeface="Arial"/>
              </a:rPr>
              <a:t>Fourth Outline Level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Fifth Outline Level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Sixth Outline Level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Seventh Outline Level</a:t>
            </a:r>
            <a:endParaRPr/>
          </a:p>
        </p:txBody>
      </p:sp>
      <p:grpSp>
        <p:nvGrpSpPr>
          <p:cNvPr id="7" name="object 11">
            <a:extLst>
              <a:ext uri="{FF2B5EF4-FFF2-40B4-BE49-F238E27FC236}">
                <a16:creationId xmlns:a16="http://schemas.microsoft.com/office/drawing/2014/main" id="{F0269EF7-D1D9-46F5-A625-AB9C218B463B}"/>
              </a:ext>
            </a:extLst>
          </p:cNvPr>
          <p:cNvGrpSpPr/>
          <p:nvPr userDrawn="1"/>
        </p:nvGrpSpPr>
        <p:grpSpPr>
          <a:xfrm>
            <a:off x="11690604" y="6401668"/>
            <a:ext cx="281940" cy="280670"/>
            <a:chOff x="11690604" y="6435852"/>
            <a:chExt cx="281940" cy="280670"/>
          </a:xfrm>
        </p:grpSpPr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CAF5D3BF-5BF3-4F71-BE75-E6E66741A1E1}"/>
                </a:ext>
              </a:extLst>
            </p:cNvPr>
            <p:cNvSpPr/>
            <p:nvPr/>
          </p:nvSpPr>
          <p:spPr>
            <a:xfrm>
              <a:off x="11703558" y="6448806"/>
              <a:ext cx="256540" cy="254635"/>
            </a:xfrm>
            <a:custGeom>
              <a:avLst/>
              <a:gdLst/>
              <a:ahLst/>
              <a:cxnLst/>
              <a:rect l="l" t="t" r="r" b="b"/>
              <a:pathLst>
                <a:path w="256540" h="254634">
                  <a:moveTo>
                    <a:pt x="128016" y="0"/>
                  </a:moveTo>
                  <a:lnTo>
                    <a:pt x="78170" y="10000"/>
                  </a:lnTo>
                  <a:lnTo>
                    <a:pt x="37480" y="37271"/>
                  </a:lnTo>
                  <a:lnTo>
                    <a:pt x="10054" y="77720"/>
                  </a:lnTo>
                  <a:lnTo>
                    <a:pt x="0" y="127254"/>
                  </a:lnTo>
                  <a:lnTo>
                    <a:pt x="10054" y="176787"/>
                  </a:lnTo>
                  <a:lnTo>
                    <a:pt x="37480" y="217236"/>
                  </a:lnTo>
                  <a:lnTo>
                    <a:pt x="78170" y="244507"/>
                  </a:lnTo>
                  <a:lnTo>
                    <a:pt x="128016" y="254508"/>
                  </a:lnTo>
                  <a:lnTo>
                    <a:pt x="177861" y="244507"/>
                  </a:lnTo>
                  <a:lnTo>
                    <a:pt x="218551" y="217236"/>
                  </a:lnTo>
                  <a:lnTo>
                    <a:pt x="245977" y="176787"/>
                  </a:lnTo>
                  <a:lnTo>
                    <a:pt x="256032" y="127254"/>
                  </a:lnTo>
                  <a:lnTo>
                    <a:pt x="245977" y="77720"/>
                  </a:lnTo>
                  <a:lnTo>
                    <a:pt x="218551" y="37271"/>
                  </a:lnTo>
                  <a:lnTo>
                    <a:pt x="177861" y="1000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9CC639"/>
            </a:solidFill>
          </p:spPr>
          <p:txBody>
            <a:bodyPr wrap="square" lIns="0" tIns="0" rIns="0" bIns="0" rtlCol="0"/>
            <a:lstStyle/>
            <a:p>
              <a:endParaRPr b="1" dirty="0">
                <a:solidFill>
                  <a:schemeClr val="bg1"/>
                </a:solidFill>
              </a:endParaRPr>
            </a:p>
          </p:txBody>
        </p:sp>
        <p:sp>
          <p:nvSpPr>
            <p:cNvPr id="9" name="object 13">
              <a:extLst>
                <a:ext uri="{FF2B5EF4-FFF2-40B4-BE49-F238E27FC236}">
                  <a16:creationId xmlns:a16="http://schemas.microsoft.com/office/drawing/2014/main" id="{41750304-9730-404D-9900-09340A8DA876}"/>
                </a:ext>
              </a:extLst>
            </p:cNvPr>
            <p:cNvSpPr/>
            <p:nvPr/>
          </p:nvSpPr>
          <p:spPr>
            <a:xfrm>
              <a:off x="11703558" y="6448806"/>
              <a:ext cx="256540" cy="254635"/>
            </a:xfrm>
            <a:custGeom>
              <a:avLst/>
              <a:gdLst/>
              <a:ahLst/>
              <a:cxnLst/>
              <a:rect l="l" t="t" r="r" b="b"/>
              <a:pathLst>
                <a:path w="256540" h="254634">
                  <a:moveTo>
                    <a:pt x="0" y="127254"/>
                  </a:moveTo>
                  <a:lnTo>
                    <a:pt x="10054" y="77720"/>
                  </a:lnTo>
                  <a:lnTo>
                    <a:pt x="37480" y="37271"/>
                  </a:lnTo>
                  <a:lnTo>
                    <a:pt x="78170" y="10000"/>
                  </a:lnTo>
                  <a:lnTo>
                    <a:pt x="128016" y="0"/>
                  </a:lnTo>
                  <a:lnTo>
                    <a:pt x="177861" y="10000"/>
                  </a:lnTo>
                  <a:lnTo>
                    <a:pt x="218551" y="37271"/>
                  </a:lnTo>
                  <a:lnTo>
                    <a:pt x="245977" y="77720"/>
                  </a:lnTo>
                  <a:lnTo>
                    <a:pt x="256032" y="127254"/>
                  </a:lnTo>
                  <a:lnTo>
                    <a:pt x="245977" y="176787"/>
                  </a:lnTo>
                  <a:lnTo>
                    <a:pt x="218551" y="217236"/>
                  </a:lnTo>
                  <a:lnTo>
                    <a:pt x="177861" y="244507"/>
                  </a:lnTo>
                  <a:lnTo>
                    <a:pt x="128016" y="254508"/>
                  </a:lnTo>
                  <a:lnTo>
                    <a:pt x="78170" y="244507"/>
                  </a:lnTo>
                  <a:lnTo>
                    <a:pt x="37480" y="217236"/>
                  </a:lnTo>
                  <a:lnTo>
                    <a:pt x="10054" y="176787"/>
                  </a:lnTo>
                  <a:lnTo>
                    <a:pt x="0" y="127254"/>
                  </a:lnTo>
                  <a:close/>
                </a:path>
              </a:pathLst>
            </a:custGeom>
            <a:ln w="25908">
              <a:solidFill>
                <a:srgbClr val="9CC639"/>
              </a:solidFill>
            </a:ln>
          </p:spPr>
          <p:txBody>
            <a:bodyPr wrap="square" lIns="0" tIns="0" rIns="0" bIns="0" rtlCol="0"/>
            <a:lstStyle/>
            <a:p>
              <a:endParaRPr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PlaceHolder 2"/>
          <p:cNvSpPr>
            <a:spLocks noGrp="1"/>
          </p:cNvSpPr>
          <p:nvPr>
            <p:ph type="sldNum" idx="2"/>
          </p:nvPr>
        </p:nvSpPr>
        <p:spPr bwMode="auto">
          <a:xfrm>
            <a:off x="11610000" y="6354000"/>
            <a:ext cx="432000" cy="36143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ru-RU" sz="1200" b="1" strike="noStrike" spc="-1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88E02A3-5676-427E-A487-029D252D15C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6171791-5D13-AEFF-09F0-07DBAFC3DF0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" name="PlaceHolder 1">
            <a:extLst>
              <a:ext uri="{FF2B5EF4-FFF2-40B4-BE49-F238E27FC236}">
                <a16:creationId xmlns:a16="http://schemas.microsoft.com/office/drawing/2014/main" id="{0F7A72F9-508F-7A79-7B54-9F168B62CF3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1487488" y="3173798"/>
            <a:ext cx="9140400" cy="9848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ru-RU" sz="3200" b="1" spc="-1" dirty="0">
                <a:solidFill>
                  <a:srgbClr val="FFFFFF"/>
                </a:solidFill>
                <a:latin typeface="+mn-lt"/>
              </a:rPr>
              <a:t>Покупательское намерение в интернет-магазине</a:t>
            </a:r>
            <a:endParaRPr lang="ru-RU" sz="3200" b="1" strike="noStrike" spc="-1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5D049898-1F3A-1BE8-9004-75EC559C69EE}"/>
              </a:ext>
            </a:extLst>
          </p:cNvPr>
          <p:cNvSpPr txBox="1">
            <a:spLocks/>
          </p:cNvSpPr>
          <p:nvPr/>
        </p:nvSpPr>
        <p:spPr bwMode="auto">
          <a:xfrm>
            <a:off x="1487488" y="4684383"/>
            <a:ext cx="9140400" cy="30777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000" spc="-1" dirty="0">
                <a:solidFill>
                  <a:srgbClr val="FFFFFF"/>
                </a:solidFill>
                <a:latin typeface="+mn-lt"/>
              </a:rPr>
              <a:t>Загиров Матвей Денисович</a:t>
            </a:r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F8A7FFCA-9544-6333-F09C-E78C9B05EABD}"/>
              </a:ext>
            </a:extLst>
          </p:cNvPr>
          <p:cNvSpPr txBox="1">
            <a:spLocks/>
          </p:cNvSpPr>
          <p:nvPr/>
        </p:nvSpPr>
        <p:spPr bwMode="auto">
          <a:xfrm>
            <a:off x="1487488" y="5018582"/>
            <a:ext cx="9140400" cy="21544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1400" i="1" spc="-1" dirty="0">
                <a:solidFill>
                  <a:srgbClr val="FFFFFF"/>
                </a:solidFill>
                <a:latin typeface="+mn-lt"/>
              </a:rPr>
              <a:t>Искусственный интеллект. Алгоритмы машинного обучения на языке </a:t>
            </a:r>
            <a:r>
              <a:rPr lang="ru-RU" sz="1400" i="1" spc="-1" dirty="0" err="1">
                <a:solidFill>
                  <a:srgbClr val="FFFFFF"/>
                </a:solidFill>
                <a:latin typeface="+mn-lt"/>
              </a:rPr>
              <a:t>Python</a:t>
            </a:r>
            <a:endParaRPr lang="ru-RU" sz="1400" i="1" spc="-1" dirty="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3417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0F781-099A-8DB8-6DA7-BAC67F4D4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500" b="1" dirty="0">
                <a:solidFill>
                  <a:srgbClr val="433E4D"/>
                </a:solidFill>
              </a:rPr>
              <a:t>Постановка задачи и анализ предметной области</a:t>
            </a:r>
            <a:br>
              <a:rPr lang="ru-RU" b="1" dirty="0">
                <a:solidFill>
                  <a:srgbClr val="433E4D"/>
                </a:solidFill>
              </a:rPr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E4F957-51DE-A7F7-4CAB-047E65523980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F0B5FAB6-39D5-4FDF-86A9-A6853609F403}" type="slidenum">
              <a:rPr lang="ru-RU" smtClean="0"/>
              <a:t>2</a:t>
            </a:fld>
            <a:endParaRPr lang="ru-RU"/>
          </a:p>
        </p:txBody>
      </p:sp>
      <p:sp>
        <p:nvSpPr>
          <p:cNvPr id="6" name="Rounded Rectangle 166">
            <a:extLst>
              <a:ext uri="{FF2B5EF4-FFF2-40B4-BE49-F238E27FC236}">
                <a16:creationId xmlns:a16="http://schemas.microsoft.com/office/drawing/2014/main" id="{13A268C6-1B29-A897-ED21-7E07131FBE33}"/>
              </a:ext>
            </a:extLst>
          </p:cNvPr>
          <p:cNvSpPr/>
          <p:nvPr/>
        </p:nvSpPr>
        <p:spPr bwMode="auto">
          <a:xfrm>
            <a:off x="609480" y="1340768"/>
            <a:ext cx="3246120" cy="411480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50" b="1" dirty="0" err="1">
                <a:solidFill>
                  <a:srgbClr val="FFFFFF"/>
                </a:solidFill>
                <a:latin typeface="Arial"/>
              </a:rPr>
              <a:t>Предметная</a:t>
            </a:r>
            <a:r>
              <a:rPr sz="17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50" b="1" dirty="0" err="1">
                <a:solidFill>
                  <a:srgbClr val="FFFFFF"/>
                </a:solidFill>
                <a:latin typeface="Arial"/>
              </a:rPr>
              <a:t>область</a:t>
            </a:r>
            <a:endParaRPr sz="17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35BD5-E6A9-8FDA-FC9C-6920A7326BAF}"/>
              </a:ext>
            </a:extLst>
          </p:cNvPr>
          <p:cNvSpPr txBox="1"/>
          <p:nvPr/>
        </p:nvSpPr>
        <p:spPr bwMode="auto">
          <a:xfrm>
            <a:off x="609480" y="1900352"/>
            <a:ext cx="3456432" cy="1170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dirty="0" err="1"/>
              <a:t>Интернет-магазин</a:t>
            </a:r>
            <a:r>
              <a:rPr dirty="0"/>
              <a:t> и </a:t>
            </a:r>
            <a:r>
              <a:rPr dirty="0" err="1"/>
              <a:t>пользовательские</a:t>
            </a:r>
            <a:r>
              <a:rPr dirty="0"/>
              <a:t> </a:t>
            </a:r>
            <a:r>
              <a:rPr dirty="0" err="1"/>
              <a:t>сессии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dirty="0"/>
              <a:t>Сессия </a:t>
            </a:r>
            <a:r>
              <a:rPr dirty="0" err="1"/>
              <a:t>описывается</a:t>
            </a:r>
            <a:r>
              <a:rPr dirty="0"/>
              <a:t> </a:t>
            </a:r>
            <a:r>
              <a:rPr dirty="0" err="1"/>
              <a:t>поведением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: </a:t>
            </a:r>
            <a:r>
              <a:rPr dirty="0" err="1"/>
              <a:t>страницы</a:t>
            </a:r>
            <a:r>
              <a:rPr dirty="0"/>
              <a:t>, </a:t>
            </a:r>
            <a:r>
              <a:rPr dirty="0" err="1"/>
              <a:t>длительность</a:t>
            </a:r>
            <a:r>
              <a:rPr dirty="0"/>
              <a:t>, </a:t>
            </a:r>
            <a:r>
              <a:rPr dirty="0" err="1"/>
              <a:t>отказы</a:t>
            </a:r>
            <a:r>
              <a:rPr dirty="0"/>
              <a:t>, </a:t>
            </a:r>
            <a:r>
              <a:rPr dirty="0" err="1"/>
              <a:t>выходы</a:t>
            </a:r>
            <a:r>
              <a:rPr dirty="0"/>
              <a:t>, </a:t>
            </a:r>
            <a:r>
              <a:rPr dirty="0" err="1"/>
              <a:t>месяц</a:t>
            </a:r>
            <a:r>
              <a:rPr dirty="0"/>
              <a:t>,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посетителя</a:t>
            </a:r>
            <a:r>
              <a:rPr dirty="0"/>
              <a:t>.</a:t>
            </a:r>
          </a:p>
        </p:txBody>
      </p:sp>
      <p:sp>
        <p:nvSpPr>
          <p:cNvPr id="9" name="Rounded Rectangle 168">
            <a:extLst>
              <a:ext uri="{FF2B5EF4-FFF2-40B4-BE49-F238E27FC236}">
                <a16:creationId xmlns:a16="http://schemas.microsoft.com/office/drawing/2014/main" id="{B329BCD4-2F1D-1E5B-23C6-A318595B5A37}"/>
              </a:ext>
            </a:extLst>
          </p:cNvPr>
          <p:cNvSpPr/>
          <p:nvPr/>
        </p:nvSpPr>
        <p:spPr bwMode="auto">
          <a:xfrm>
            <a:off x="4439816" y="1340768"/>
            <a:ext cx="3063240" cy="411480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50" b="1">
                <a:solidFill>
                  <a:srgbClr val="FFFFFF"/>
                </a:solidFill>
                <a:latin typeface="Arial"/>
              </a:rPr>
              <a:t>Бизнес-задача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D598C6-7F0A-71CF-C11D-3EDF7758590D}"/>
              </a:ext>
            </a:extLst>
          </p:cNvPr>
          <p:cNvSpPr txBox="1"/>
          <p:nvPr/>
        </p:nvSpPr>
        <p:spPr>
          <a:xfrm>
            <a:off x="4367808" y="1795122"/>
            <a:ext cx="3135248" cy="1174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По параметрам сессии предсказать, завершится ли она покупкой.</a:t>
            </a:r>
          </a:p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Использовать прогноз для персонализации предложений и маркетинговых действий.</a:t>
            </a:r>
          </a:p>
        </p:txBody>
      </p:sp>
      <p:sp>
        <p:nvSpPr>
          <p:cNvPr id="12" name="Rounded Rectangle 170">
            <a:extLst>
              <a:ext uri="{FF2B5EF4-FFF2-40B4-BE49-F238E27FC236}">
                <a16:creationId xmlns:a16="http://schemas.microsoft.com/office/drawing/2014/main" id="{B24DC769-B654-F11C-01B7-7BD4442A416A}"/>
              </a:ext>
            </a:extLst>
          </p:cNvPr>
          <p:cNvSpPr/>
          <p:nvPr/>
        </p:nvSpPr>
        <p:spPr bwMode="auto">
          <a:xfrm>
            <a:off x="8247888" y="1371600"/>
            <a:ext cx="2697480" cy="411480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50" b="1">
                <a:solidFill>
                  <a:srgbClr val="FFFFFF"/>
                </a:solidFill>
                <a:latin typeface="Arial"/>
              </a:rPr>
              <a:t>Тип ML-задачи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E0F03-4693-2E0B-35F7-00E8594AE910}"/>
              </a:ext>
            </a:extLst>
          </p:cNvPr>
          <p:cNvSpPr txBox="1"/>
          <p:nvPr/>
        </p:nvSpPr>
        <p:spPr>
          <a:xfrm>
            <a:off x="8247888" y="1795122"/>
            <a:ext cx="2697480" cy="148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Бинарная классификация.</a:t>
            </a:r>
          </a:p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Target: </a:t>
            </a:r>
            <a:r>
              <a:rPr lang="ru-RU" dirty="0" err="1"/>
              <a:t>Revenue</a:t>
            </a:r>
            <a:r>
              <a:rPr lang="ru-RU" dirty="0"/>
              <a:t>.</a:t>
            </a:r>
          </a:p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Классы: 1 — покупка, 0 — нет покупки.</a:t>
            </a:r>
          </a:p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Дисбаланс: покупок около 15.47%.</a:t>
            </a:r>
          </a:p>
        </p:txBody>
      </p:sp>
      <p:sp>
        <p:nvSpPr>
          <p:cNvPr id="15" name="Rounded Rectangle 172">
            <a:extLst>
              <a:ext uri="{FF2B5EF4-FFF2-40B4-BE49-F238E27FC236}">
                <a16:creationId xmlns:a16="http://schemas.microsoft.com/office/drawing/2014/main" id="{DFABD811-2A8A-2045-6EFB-85851A6A2D23}"/>
              </a:ext>
            </a:extLst>
          </p:cNvPr>
          <p:cNvSpPr/>
          <p:nvPr/>
        </p:nvSpPr>
        <p:spPr bwMode="auto">
          <a:xfrm>
            <a:off x="609480" y="3586049"/>
            <a:ext cx="3246120" cy="402336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80" b="1" dirty="0" err="1">
                <a:solidFill>
                  <a:srgbClr val="FFFFFF"/>
                </a:solidFill>
                <a:latin typeface="Arial"/>
              </a:rPr>
              <a:t>Почему</a:t>
            </a:r>
            <a:r>
              <a:rPr sz="1680" b="1" dirty="0">
                <a:solidFill>
                  <a:srgbClr val="FFFFFF"/>
                </a:solidFill>
                <a:latin typeface="Arial"/>
              </a:rPr>
              <a:t> ML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9A3E8B-563A-B3CB-7260-B3B04AAABE9E}"/>
              </a:ext>
            </a:extLst>
          </p:cNvPr>
          <p:cNvSpPr txBox="1"/>
          <p:nvPr/>
        </p:nvSpPr>
        <p:spPr>
          <a:xfrm>
            <a:off x="684747" y="3975892"/>
            <a:ext cx="2697480" cy="1376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Признаки разнородные и взаимосвязанные.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Модели учитывают нелинейные зависимости.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Нужна вероятность покупки, а не только правило «да/нет».</a:t>
            </a:r>
          </a:p>
        </p:txBody>
      </p:sp>
      <p:sp>
        <p:nvSpPr>
          <p:cNvPr id="18" name="Rounded Rectangle 174">
            <a:extLst>
              <a:ext uri="{FF2B5EF4-FFF2-40B4-BE49-F238E27FC236}">
                <a16:creationId xmlns:a16="http://schemas.microsoft.com/office/drawing/2014/main" id="{26C69984-9268-3D89-2F4C-DD95EEC78F77}"/>
              </a:ext>
            </a:extLst>
          </p:cNvPr>
          <p:cNvSpPr/>
          <p:nvPr/>
        </p:nvSpPr>
        <p:spPr bwMode="auto">
          <a:xfrm>
            <a:off x="4367808" y="3573556"/>
            <a:ext cx="3135248" cy="402336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80" b="1" dirty="0" err="1">
                <a:solidFill>
                  <a:srgbClr val="FFFFFF"/>
                </a:solidFill>
                <a:latin typeface="Arial"/>
              </a:rPr>
              <a:t>Ограничения</a:t>
            </a:r>
            <a:endParaRPr sz="168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407073-CC7A-0574-9B01-55757377722F}"/>
              </a:ext>
            </a:extLst>
          </p:cNvPr>
          <p:cNvSpPr txBox="1"/>
          <p:nvPr/>
        </p:nvSpPr>
        <p:spPr>
          <a:xfrm>
            <a:off x="4359424" y="4001367"/>
            <a:ext cx="3135248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Данные исторические: поведение пользователей может меняться.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Прогноз не является гарантией покупки.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Нужны мониторинг и переобучение.</a:t>
            </a:r>
          </a:p>
        </p:txBody>
      </p:sp>
      <p:sp>
        <p:nvSpPr>
          <p:cNvPr id="21" name="Rounded Rectangle 176">
            <a:extLst>
              <a:ext uri="{FF2B5EF4-FFF2-40B4-BE49-F238E27FC236}">
                <a16:creationId xmlns:a16="http://schemas.microsoft.com/office/drawing/2014/main" id="{0E35B230-0213-9789-559D-F1BC03119107}"/>
              </a:ext>
            </a:extLst>
          </p:cNvPr>
          <p:cNvSpPr/>
          <p:nvPr/>
        </p:nvSpPr>
        <p:spPr bwMode="auto">
          <a:xfrm>
            <a:off x="8372005" y="3586049"/>
            <a:ext cx="2788920" cy="402336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80" b="1" dirty="0" err="1">
                <a:solidFill>
                  <a:srgbClr val="FFFFFF"/>
                </a:solidFill>
                <a:latin typeface="Arial"/>
              </a:rPr>
              <a:t>Ожидаемый</a:t>
            </a:r>
            <a:r>
              <a:rPr sz="168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80" b="1" dirty="0" err="1">
                <a:solidFill>
                  <a:srgbClr val="FFFFFF"/>
                </a:solidFill>
                <a:latin typeface="Arial"/>
              </a:rPr>
              <a:t>эффект</a:t>
            </a:r>
            <a:endParaRPr sz="168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182A8D-AD3D-9112-606F-E8201053EE23}"/>
              </a:ext>
            </a:extLst>
          </p:cNvPr>
          <p:cNvSpPr txBox="1"/>
          <p:nvPr/>
        </p:nvSpPr>
        <p:spPr>
          <a:xfrm>
            <a:off x="8372005" y="4001367"/>
            <a:ext cx="3135248" cy="1376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Выделение сессий с высокой вероятностью покупки.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Более точные персональные предложения.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Поддержка решений маркетинга на основе данных.</a:t>
            </a:r>
          </a:p>
        </p:txBody>
      </p:sp>
      <p:sp>
        <p:nvSpPr>
          <p:cNvPr id="24" name="Rounded Rectangle 178">
            <a:extLst>
              <a:ext uri="{FF2B5EF4-FFF2-40B4-BE49-F238E27FC236}">
                <a16:creationId xmlns:a16="http://schemas.microsoft.com/office/drawing/2014/main" id="{E4B504AE-1837-8F39-9048-5E3DA59414CA}"/>
              </a:ext>
            </a:extLst>
          </p:cNvPr>
          <p:cNvSpPr/>
          <p:nvPr/>
        </p:nvSpPr>
        <p:spPr bwMode="auto">
          <a:xfrm>
            <a:off x="920708" y="5798663"/>
            <a:ext cx="10012680" cy="329184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60" b="1" dirty="0" err="1">
                <a:solidFill>
                  <a:srgbClr val="433E4D"/>
                </a:solidFill>
                <a:latin typeface="Arial"/>
              </a:rPr>
              <a:t>Итог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: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модель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решает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прикладную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задачу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прогнозирования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покупательского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намерения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и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может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быть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встроена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в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сервис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интернет-магазина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2183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297343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/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>
                <a:solidFill>
                  <a:srgbClr val="433E4D"/>
                </a:solidFill>
                <a:latin typeface="Arial"/>
              </a:rPr>
              <a:t>Сбор, подготовка и анализ данных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ED4AA372-6A96-47DD-805E-C015AA8C3DB6}" type="slidenum">
              <a:rPr lang="ru-RU" smtClean="0"/>
              <a:t>3</a:t>
            </a:fld>
            <a:endParaRPr lang="ru-RU"/>
          </a:p>
        </p:txBody>
      </p:sp>
      <p:sp>
        <p:nvSpPr>
          <p:cNvPr id="125" name="Rounded Rectangle 124"/>
          <p:cNvSpPr/>
          <p:nvPr/>
        </p:nvSpPr>
        <p:spPr>
          <a:xfrm>
            <a:off x="914400" y="1298448"/>
            <a:ext cx="1920240" cy="65836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12 330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14400" y="197510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строк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063240" y="1298448"/>
            <a:ext cx="1920240" cy="658368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063240" y="197510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колонок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212080" y="1298448"/>
            <a:ext cx="1920240" cy="658368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212080" y="197510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пропусков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360920" y="1298448"/>
            <a:ext cx="1920240" cy="65836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360920" y="197510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входных признаков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32688" y="2880360"/>
            <a:ext cx="4434840" cy="1928733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100" b="1" dirty="0" err="1">
                <a:solidFill>
                  <a:srgbClr val="433E4D"/>
                </a:solidFill>
                <a:latin typeface="Arial"/>
              </a:rPr>
              <a:t>Данные</a:t>
            </a:r>
            <a:endParaRPr sz="2100" b="1" dirty="0">
              <a:solidFill>
                <a:srgbClr val="433E4D"/>
              </a:solidFill>
              <a:latin typeface="Arial"/>
            </a:endParaRP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 err="1"/>
              <a:t>Источник</a:t>
            </a:r>
            <a:r>
              <a:rPr dirty="0"/>
              <a:t>: UCI Online Shoppers Purchasing Intention Dataset.</a:t>
            </a: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 err="1"/>
              <a:t>Каждая</a:t>
            </a:r>
            <a:r>
              <a:rPr dirty="0"/>
              <a:t> </a:t>
            </a:r>
            <a:r>
              <a:rPr dirty="0" err="1"/>
              <a:t>строка</a:t>
            </a:r>
            <a:r>
              <a:rPr dirty="0"/>
              <a:t> — </a:t>
            </a:r>
            <a:r>
              <a:rPr dirty="0" err="1"/>
              <a:t>одна</a:t>
            </a:r>
            <a:r>
              <a:rPr dirty="0"/>
              <a:t> </a:t>
            </a:r>
            <a:r>
              <a:rPr dirty="0" err="1"/>
              <a:t>сессия</a:t>
            </a:r>
            <a:r>
              <a:rPr dirty="0"/>
              <a:t> </a:t>
            </a:r>
            <a:r>
              <a:rPr dirty="0" err="1"/>
              <a:t>интернет-магазина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/>
              <a:t>Файл </a:t>
            </a:r>
            <a:r>
              <a:rPr dirty="0" err="1"/>
              <a:t>проекта</a:t>
            </a:r>
            <a:r>
              <a:rPr dirty="0"/>
              <a:t>: data.csv.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080760" y="2880360"/>
            <a:ext cx="4800600" cy="2240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100" b="1" dirty="0" err="1">
                <a:solidFill>
                  <a:srgbClr val="433E4D"/>
                </a:solidFill>
                <a:latin typeface="Arial"/>
              </a:rPr>
              <a:t>Группы</a:t>
            </a:r>
            <a:r>
              <a:rPr sz="210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433E4D"/>
                </a:solidFill>
                <a:latin typeface="Arial"/>
              </a:rPr>
              <a:t>признаков</a:t>
            </a:r>
            <a:endParaRPr sz="2100" b="1" dirty="0">
              <a:solidFill>
                <a:srgbClr val="433E4D"/>
              </a:solidFill>
              <a:latin typeface="Arial"/>
            </a:endParaRP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 err="1"/>
              <a:t>Числовые</a:t>
            </a:r>
            <a:r>
              <a:rPr dirty="0"/>
              <a:t>: </a:t>
            </a:r>
            <a:r>
              <a:rPr dirty="0" err="1"/>
              <a:t>длительности</a:t>
            </a:r>
            <a:r>
              <a:rPr dirty="0"/>
              <a:t>, </a:t>
            </a:r>
            <a:r>
              <a:rPr dirty="0" err="1"/>
              <a:t>PageValues</a:t>
            </a:r>
            <a:r>
              <a:rPr dirty="0"/>
              <a:t>, </a:t>
            </a:r>
            <a:r>
              <a:rPr dirty="0" err="1"/>
              <a:t>BounceRates</a:t>
            </a:r>
            <a:r>
              <a:rPr dirty="0"/>
              <a:t>, </a:t>
            </a:r>
            <a:r>
              <a:rPr dirty="0" err="1"/>
              <a:t>ExitRates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 err="1"/>
              <a:t>Категориальные</a:t>
            </a:r>
            <a:r>
              <a:rPr dirty="0"/>
              <a:t>: Month, </a:t>
            </a:r>
            <a:r>
              <a:rPr dirty="0" err="1"/>
              <a:t>VisitorType</a:t>
            </a:r>
            <a:r>
              <a:rPr dirty="0"/>
              <a:t>, Weekend, Browser, Region.</a:t>
            </a: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/>
              <a:t>Target: Revenue </a:t>
            </a:r>
            <a:r>
              <a:rPr dirty="0" err="1"/>
              <a:t>приведён</a:t>
            </a:r>
            <a:r>
              <a:rPr dirty="0"/>
              <a:t> к 0/1.</a:t>
            </a:r>
          </a:p>
        </p:txBody>
      </p:sp>
    </p:spTree>
    <p:extLst>
      <p:ext uri="{BB962C8B-B14F-4D97-AF65-F5344CB8AC3E}">
        <p14:creationId xmlns:p14="http://schemas.microsoft.com/office/powerpoint/2010/main" val="3571114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272568" cy="73866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>
                <a:solidFill>
                  <a:srgbClr val="433E4D"/>
                </a:solidFill>
                <a:latin typeface="Arial"/>
              </a:rPr>
              <a:t>EDA: дисбаланс классов и поведенческие признаки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ED4AA372-6A96-47DD-805E-C015AA8C3DB6}" type="slidenum">
              <a:rPr lang="ru-RU" smtClean="0"/>
              <a:t>4</a:t>
            </a:fld>
            <a:endParaRPr lang="ru-RU"/>
          </a:p>
        </p:txBody>
      </p:sp>
      <p:pic>
        <p:nvPicPr>
          <p:cNvPr id="125" name="Picture 124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124744"/>
            <a:ext cx="4392488" cy="3120978"/>
          </a:xfrm>
          <a:prstGeom prst="rect">
            <a:avLst/>
          </a:prstGeom>
        </p:spPr>
      </p:pic>
      <p:pic>
        <p:nvPicPr>
          <p:cNvPr id="126" name="Picture 125" descr="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137" y="1025766"/>
            <a:ext cx="4657503" cy="3676976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9248640" y="1372785"/>
            <a:ext cx="2743200" cy="2606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24232A"/>
                </a:solidFill>
                <a:latin typeface="Arial"/>
              </a:defRPr>
            </a:pPr>
            <a:r>
              <a:rPr dirty="0"/>
              <a:t>Покупок </a:t>
            </a:r>
            <a:r>
              <a:rPr dirty="0" err="1"/>
              <a:t>заметно</a:t>
            </a:r>
            <a:r>
              <a:rPr dirty="0"/>
              <a:t> </a:t>
            </a:r>
            <a:r>
              <a:rPr dirty="0" err="1"/>
              <a:t>меньше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сессий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покупки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50">
                <a:solidFill>
                  <a:srgbClr val="24232A"/>
                </a:solidFill>
                <a:latin typeface="Arial"/>
              </a:defRPr>
            </a:pPr>
            <a:r>
              <a:rPr dirty="0"/>
              <a:t>Accuracy </a:t>
            </a:r>
            <a:r>
              <a:rPr dirty="0" err="1"/>
              <a:t>недостаточно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оценки</a:t>
            </a:r>
            <a:r>
              <a:rPr dirty="0"/>
              <a:t> </a:t>
            </a:r>
            <a:r>
              <a:rPr dirty="0" err="1"/>
              <a:t>качества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50">
                <a:solidFill>
                  <a:srgbClr val="24232A"/>
                </a:solidFill>
                <a:latin typeface="Arial"/>
              </a:defRPr>
            </a:pPr>
            <a:r>
              <a:rPr dirty="0" err="1"/>
              <a:t>PageValues</a:t>
            </a:r>
            <a:r>
              <a:rPr dirty="0"/>
              <a:t> </a:t>
            </a:r>
            <a:r>
              <a:rPr dirty="0" err="1"/>
              <a:t>сильнее</a:t>
            </a:r>
            <a:r>
              <a:rPr dirty="0"/>
              <a:t> </a:t>
            </a:r>
            <a:r>
              <a:rPr dirty="0" err="1"/>
              <a:t>связан</a:t>
            </a:r>
            <a:r>
              <a:rPr dirty="0"/>
              <a:t> с Revenue,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большинство</a:t>
            </a:r>
            <a:r>
              <a:rPr dirty="0"/>
              <a:t> </a:t>
            </a:r>
            <a:r>
              <a:rPr dirty="0" err="1"/>
              <a:t>поведенческих</a:t>
            </a:r>
            <a:r>
              <a:rPr dirty="0"/>
              <a:t> </a:t>
            </a:r>
            <a:r>
              <a:rPr dirty="0" err="1"/>
              <a:t>признаков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50">
                <a:solidFill>
                  <a:srgbClr val="24232A"/>
                </a:solidFill>
                <a:latin typeface="Arial"/>
              </a:defRPr>
            </a:pPr>
            <a:r>
              <a:rPr dirty="0"/>
              <a:t>Выбросы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удалялись</a:t>
            </a:r>
            <a:r>
              <a:rPr dirty="0"/>
              <a:t>: </a:t>
            </a: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реальными</a:t>
            </a:r>
            <a:r>
              <a:rPr dirty="0"/>
              <a:t> </a:t>
            </a:r>
            <a:r>
              <a:rPr dirty="0" err="1"/>
              <a:t>длинными</a:t>
            </a:r>
            <a:r>
              <a:rPr dirty="0"/>
              <a:t> </a:t>
            </a:r>
            <a:r>
              <a:rPr dirty="0" err="1"/>
              <a:t>сессиями</a:t>
            </a:r>
            <a:r>
              <a:rPr dirty="0"/>
              <a:t>.</a:t>
            </a:r>
          </a:p>
        </p:txBody>
      </p:sp>
      <p:pic>
        <p:nvPicPr>
          <p:cNvPr id="128" name="Picture 127" descr="pagevalues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04" y="4287972"/>
            <a:ext cx="4757795" cy="2345392"/>
          </a:xfrm>
          <a:prstGeom prst="rect">
            <a:avLst/>
          </a:prstGeom>
        </p:spPr>
      </p:pic>
      <p:pic>
        <p:nvPicPr>
          <p:cNvPr id="129" name="Picture 128" descr="revenue_by_visitor_ty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091" y="4347059"/>
            <a:ext cx="4518071" cy="2227218"/>
          </a:xfrm>
          <a:prstGeom prst="rect">
            <a:avLst/>
          </a:prstGeom>
        </p:spPr>
      </p:pic>
      <p:sp>
        <p:nvSpPr>
          <p:cNvPr id="130" name="Rounded Rectangle 129"/>
          <p:cNvSpPr/>
          <p:nvPr/>
        </p:nvSpPr>
        <p:spPr>
          <a:xfrm>
            <a:off x="9354464" y="4287972"/>
            <a:ext cx="2651760" cy="84124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300" b="1" dirty="0">
                <a:solidFill>
                  <a:srgbClr val="FFFFFF"/>
                </a:solidFill>
                <a:latin typeface="Arial"/>
              </a:rPr>
              <a:t>Доля </a:t>
            </a:r>
            <a:r>
              <a:rPr sz="2300" b="1" dirty="0" err="1">
                <a:solidFill>
                  <a:srgbClr val="FFFFFF"/>
                </a:solidFill>
                <a:latin typeface="Arial"/>
              </a:rPr>
              <a:t>покупок</a:t>
            </a:r>
            <a:r>
              <a:rPr sz="2300" b="1" dirty="0">
                <a:solidFill>
                  <a:srgbClr val="FFFFFF"/>
                </a:solidFill>
                <a:latin typeface="Arial"/>
              </a:rPr>
              <a:t>: 15.47%</a:t>
            </a:r>
          </a:p>
        </p:txBody>
      </p:sp>
    </p:spTree>
    <p:extLst>
      <p:ext uri="{BB962C8B-B14F-4D97-AF65-F5344CB8AC3E}">
        <p14:creationId xmlns:p14="http://schemas.microsoft.com/office/powerpoint/2010/main" val="2988029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344775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 dirty="0">
                <a:solidFill>
                  <a:srgbClr val="433E4D"/>
                </a:solidFill>
                <a:latin typeface="Arial"/>
              </a:rPr>
              <a:t>Baseline-</a:t>
            </a:r>
            <a:r>
              <a:rPr sz="2500" b="1" dirty="0" err="1">
                <a:solidFill>
                  <a:srgbClr val="433E4D"/>
                </a:solidFill>
                <a:latin typeface="Arial"/>
              </a:rPr>
              <a:t>модель</a:t>
            </a:r>
            <a:r>
              <a:rPr sz="2500" b="1" dirty="0">
                <a:solidFill>
                  <a:srgbClr val="433E4D"/>
                </a:solidFill>
                <a:latin typeface="Arial"/>
              </a:rPr>
              <a:t> и </a:t>
            </a:r>
            <a:r>
              <a:rPr sz="2500" b="1" dirty="0" err="1">
                <a:solidFill>
                  <a:srgbClr val="433E4D"/>
                </a:solidFill>
                <a:latin typeface="Arial"/>
              </a:rPr>
              <a:t>выбор</a:t>
            </a:r>
            <a:r>
              <a:rPr sz="250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433E4D"/>
                </a:solidFill>
                <a:latin typeface="Arial"/>
              </a:rPr>
              <a:t>методов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ED4AA372-6A96-47DD-805E-C015AA8C3DB6}" type="slidenum">
              <a:rPr lang="ru-RU" smtClean="0"/>
              <a:t>5</a:t>
            </a:fld>
            <a:endParaRPr lang="ru-RU"/>
          </a:p>
        </p:txBody>
      </p:sp>
      <p:sp>
        <p:nvSpPr>
          <p:cNvPr id="125" name="Rounded Rectangle 124"/>
          <p:cNvSpPr/>
          <p:nvPr/>
        </p:nvSpPr>
        <p:spPr>
          <a:xfrm>
            <a:off x="960120" y="1325880"/>
            <a:ext cx="2926080" cy="438912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Baseline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87552" y="1901952"/>
            <a:ext cx="3200400" cy="2057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rPr dirty="0"/>
              <a:t>Logistic Regression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rPr dirty="0" err="1"/>
              <a:t>class_weight</a:t>
            </a:r>
            <a:r>
              <a:rPr dirty="0"/>
              <a:t>="balanced"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rPr dirty="0" err="1"/>
              <a:t>Объясняет</a:t>
            </a:r>
            <a:r>
              <a:rPr dirty="0"/>
              <a:t>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зависимости</a:t>
            </a: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rPr dirty="0"/>
              <a:t>Recall = 0.7435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526280" y="1325880"/>
            <a:ext cx="2926080" cy="438912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Средняя модель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553712" y="1901952"/>
            <a:ext cx="3200400" cy="2057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rPr dirty="0"/>
              <a:t>Random Forest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rPr dirty="0"/>
              <a:t>300 </a:t>
            </a:r>
            <a:r>
              <a:rPr dirty="0" err="1"/>
              <a:t>деревьев</a:t>
            </a:r>
            <a:endParaRPr dirty="0"/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rPr dirty="0" err="1"/>
              <a:t>class_weight</a:t>
            </a:r>
            <a:r>
              <a:rPr dirty="0"/>
              <a:t>="balanced"</a:t>
            </a:r>
          </a:p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rPr dirty="0"/>
              <a:t>Precision = 0.7619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092440" y="1325880"/>
            <a:ext cx="2926080" cy="438912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t>Итоговая модель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119872" y="1901952"/>
            <a:ext cx="3200400" cy="2057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t>Random Forest Tuned</a:t>
            </a:r>
            <a:br/>
            <a:r>
              <a:t>RandomizedSearchCV</a:t>
            </a:r>
            <a:br/>
            <a:r>
              <a:t>class_weight="balanced"</a:t>
            </a:r>
            <a:br/>
            <a:r>
              <a:t>Лучший F1 = 0.6615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60120" y="4572000"/>
            <a:ext cx="9966960" cy="694944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dirty="0" err="1">
                <a:solidFill>
                  <a:schemeClr val="tx1"/>
                </a:solidFill>
              </a:rPr>
              <a:t>Все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модели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обучались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внутри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sklearn</a:t>
            </a:r>
            <a:r>
              <a:rPr dirty="0">
                <a:solidFill>
                  <a:schemeClr val="tx1"/>
                </a:solidFill>
              </a:rPr>
              <a:t> Pipeline: feature engineering + preprocessing + estimator. </a:t>
            </a:r>
            <a:r>
              <a:rPr dirty="0" err="1">
                <a:solidFill>
                  <a:schemeClr val="tx1"/>
                </a:solidFill>
              </a:rPr>
              <a:t>Это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позволяет</a:t>
            </a:r>
            <a:r>
              <a:rPr dirty="0">
                <a:solidFill>
                  <a:schemeClr val="tx1"/>
                </a:solidFill>
              </a:rPr>
              <a:t> backend </a:t>
            </a:r>
            <a:r>
              <a:rPr dirty="0" err="1">
                <a:solidFill>
                  <a:schemeClr val="tx1"/>
                </a:solidFill>
              </a:rPr>
              <a:t>принимать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сырые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пользовательские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данные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3215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344775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/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 algn="l">
              <a:buNone/>
              <a:defRPr sz="2700" b="1">
                <a:solidFill>
                  <a:srgbClr val="433E4C"/>
                </a:solidFill>
              </a:defRPr>
            </a:pPr>
            <a:r>
              <a:t>Сравнение моделей и выбор финальной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ED4AA372-6A96-47DD-805E-C015AA8C3DB6}" type="slidenum">
              <a:rPr lang="ru-RU" smtClean="0"/>
              <a:t>6</a:t>
            </a:fld>
            <a:endParaRPr lang="ru-RU"/>
          </a:p>
        </p:txBody>
      </p:sp>
      <p:sp>
        <p:nvSpPr>
          <p:cNvPr id="125" name="Rectangle 124"/>
          <p:cNvSpPr/>
          <p:nvPr/>
        </p:nvSpPr>
        <p:spPr>
          <a:xfrm>
            <a:off x="804672" y="1170432"/>
            <a:ext cx="2743200" cy="384048"/>
          </a:xfrm>
          <a:prstGeom prst="rect">
            <a:avLst/>
          </a:prstGeom>
          <a:solidFill>
            <a:srgbClr val="89C400"/>
          </a:solidFill>
          <a:ln w="1016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Основная метрика: F1-score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730752" y="1170432"/>
            <a:ext cx="3063240" cy="384048"/>
          </a:xfrm>
          <a:prstGeom prst="rect">
            <a:avLst/>
          </a:prstGeom>
          <a:solidFill>
            <a:srgbClr val="433E4C"/>
          </a:solidFill>
          <a:ln w="10160">
            <a:solidFill>
              <a:srgbClr val="43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Подбор: RandomizedSearchCV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967728" y="1170432"/>
            <a:ext cx="3429000" cy="384048"/>
          </a:xfrm>
          <a:prstGeom prst="rect">
            <a:avLst/>
          </a:prstGeom>
          <a:solidFill>
            <a:srgbClr val="32C2D7"/>
          </a:solidFill>
          <a:ln w="10160"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Дисбаланс: покупок около 15.47%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86384" y="1783080"/>
            <a:ext cx="2788920" cy="512064"/>
          </a:xfrm>
          <a:prstGeom prst="rect">
            <a:avLst/>
          </a:prstGeom>
          <a:solidFill>
            <a:srgbClr val="433E4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Модель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575304" y="1783080"/>
            <a:ext cx="1325880" cy="512064"/>
          </a:xfrm>
          <a:prstGeom prst="rect">
            <a:avLst/>
          </a:prstGeom>
          <a:solidFill>
            <a:srgbClr val="433E4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01184" y="1783080"/>
            <a:ext cx="1417320" cy="512064"/>
          </a:xfrm>
          <a:prstGeom prst="rect">
            <a:avLst/>
          </a:prstGeom>
          <a:solidFill>
            <a:srgbClr val="433E4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18504" y="1783080"/>
            <a:ext cx="1325880" cy="512064"/>
          </a:xfrm>
          <a:prstGeom prst="rect">
            <a:avLst/>
          </a:prstGeom>
          <a:solidFill>
            <a:srgbClr val="433E4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644384" y="1783080"/>
            <a:ext cx="1097280" cy="512064"/>
          </a:xfrm>
          <a:prstGeom prst="rect">
            <a:avLst/>
          </a:prstGeom>
          <a:solidFill>
            <a:srgbClr val="433E4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741664" y="1783080"/>
            <a:ext cx="1417320" cy="512064"/>
          </a:xfrm>
          <a:prstGeom prst="rect">
            <a:avLst/>
          </a:prstGeom>
          <a:solidFill>
            <a:srgbClr val="433E4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ROC-AUC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86384" y="2295144"/>
            <a:ext cx="2788920" cy="512064"/>
          </a:xfrm>
          <a:prstGeom prst="rect">
            <a:avLst/>
          </a:prstGeom>
          <a:solidFill>
            <a:srgbClr val="EBF6DE"/>
          </a:solidFill>
          <a:ln w="1016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500" b="1">
                <a:solidFill>
                  <a:srgbClr val="433E4C"/>
                </a:solidFill>
              </a:defRPr>
            </a:pPr>
            <a:r>
              <a:t>Random Forest Tuned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575304" y="2295144"/>
            <a:ext cx="1325880" cy="512064"/>
          </a:xfrm>
          <a:prstGeom prst="rect">
            <a:avLst/>
          </a:prstGeom>
          <a:solidFill>
            <a:srgbClr val="EBF6DE"/>
          </a:solidFill>
          <a:ln w="1016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33E4C"/>
                </a:solidFill>
              </a:defRPr>
            </a:pPr>
            <a:r>
              <a:t>0.893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901184" y="2295144"/>
            <a:ext cx="1417320" cy="512064"/>
          </a:xfrm>
          <a:prstGeom prst="rect">
            <a:avLst/>
          </a:prstGeom>
          <a:solidFill>
            <a:srgbClr val="EBF6DE"/>
          </a:solidFill>
          <a:ln w="1016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33E4C"/>
                </a:solidFill>
              </a:defRPr>
            </a:pPr>
            <a:r>
              <a:t>0.648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318504" y="2295144"/>
            <a:ext cx="1325880" cy="512064"/>
          </a:xfrm>
          <a:prstGeom prst="rect">
            <a:avLst/>
          </a:prstGeom>
          <a:solidFill>
            <a:srgbClr val="EBF6DE"/>
          </a:solidFill>
          <a:ln w="1016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33E4C"/>
                </a:solidFill>
              </a:defRPr>
            </a:pPr>
            <a:r>
              <a:t>0.675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644384" y="2295144"/>
            <a:ext cx="1097280" cy="512064"/>
          </a:xfrm>
          <a:prstGeom prst="rect">
            <a:avLst/>
          </a:prstGeom>
          <a:solidFill>
            <a:srgbClr val="EBF6DE"/>
          </a:solidFill>
          <a:ln w="1016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33E4C"/>
                </a:solidFill>
              </a:defRPr>
            </a:pPr>
            <a:r>
              <a:t>0.662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741664" y="2295144"/>
            <a:ext cx="1417320" cy="512064"/>
          </a:xfrm>
          <a:prstGeom prst="rect">
            <a:avLst/>
          </a:prstGeom>
          <a:solidFill>
            <a:srgbClr val="EBF6DE"/>
          </a:solidFill>
          <a:ln w="1016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33E4C"/>
                </a:solidFill>
              </a:defRPr>
            </a:pPr>
            <a:r>
              <a:t>0.923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86384" y="2807208"/>
            <a:ext cx="27889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8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500" b="1">
                <a:solidFill>
                  <a:srgbClr val="2D2D34"/>
                </a:solidFill>
              </a:defRPr>
            </a:pPr>
            <a:r>
              <a:t>CatBoost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575304" y="2807208"/>
            <a:ext cx="132588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8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t>0.902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901184" y="2807208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8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t>0.727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18504" y="2807208"/>
            <a:ext cx="132588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8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t>0.586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644384" y="2807208"/>
            <a:ext cx="109728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8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t>0.649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741664" y="2807208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8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t>0.929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86384" y="3319272"/>
            <a:ext cx="27889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8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500" b="1">
                <a:solidFill>
                  <a:srgbClr val="2D2D34"/>
                </a:solidFill>
              </a:defRPr>
            </a:pPr>
            <a:r>
              <a:t>Logistic Regression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575304" y="3319272"/>
            <a:ext cx="132588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8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t>0.859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901184" y="3319272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8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t>0.529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318504" y="3319272"/>
            <a:ext cx="132588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8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t>0.809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644384" y="3319272"/>
            <a:ext cx="109728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8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t>0.640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741664" y="3319272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E8F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t>0.920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04672" y="3977639"/>
            <a:ext cx="3246120" cy="1143000"/>
          </a:xfrm>
          <a:prstGeom prst="rect">
            <a:avLst/>
          </a:prstGeom>
          <a:solidFill>
            <a:srgbClr val="F8FBFC"/>
          </a:solidFill>
          <a:ln w="1397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932688" y="4050791"/>
            <a:ext cx="29900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433E4C"/>
                </a:solidFill>
              </a:defRPr>
            </a:pPr>
            <a:r>
              <a:t>Почему выбрана RF Tuned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32688" y="4361687"/>
            <a:ext cx="2990088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2D34"/>
                </a:solidFill>
              </a:defRPr>
            </a:pPr>
            <a:r>
              <a:t>Лучший F1-score: модель лучше балансирует поиск покупок и количество ложных срабатываний.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279392" y="3977639"/>
            <a:ext cx="3246120" cy="1143000"/>
          </a:xfrm>
          <a:prstGeom prst="rect">
            <a:avLst/>
          </a:prstGeom>
          <a:solidFill>
            <a:srgbClr val="F8FBFC"/>
          </a:solidFill>
          <a:ln w="13970"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407408" y="4050791"/>
            <a:ext cx="29900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433E4C"/>
                </a:solidFill>
              </a:defRPr>
            </a:pPr>
            <a:r>
              <a:t>Почему не CatBoost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407408" y="4361687"/>
            <a:ext cx="2990088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2D34"/>
                </a:solidFill>
              </a:defRPr>
            </a:pPr>
            <a:r>
              <a:t>ROC-AUC немного выше, но recall и F1 ниже основной модели, поэтому он не выбран финальным.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754112" y="3977639"/>
            <a:ext cx="2788920" cy="1143000"/>
          </a:xfrm>
          <a:prstGeom prst="rect">
            <a:avLst/>
          </a:prstGeom>
          <a:solidFill>
            <a:srgbClr val="F8FBFC"/>
          </a:solidFill>
          <a:ln w="13970">
            <a:solidFill>
              <a:srgbClr val="43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7882128" y="4050791"/>
            <a:ext cx="2532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433E4C"/>
                </a:solidFill>
              </a:defRPr>
            </a:pPr>
            <a:r>
              <a:t>Baseline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882128" y="4361687"/>
            <a:ext cx="2532888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2D34"/>
                </a:solidFill>
              </a:defRPr>
            </a:pPr>
            <a:r>
              <a:t>Logistic Regression даёт высокий recall, но больше ложных срабатываний.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14400" y="5504688"/>
            <a:ext cx="9692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433E4C"/>
                </a:solidFill>
              </a:defRPr>
            </a:pPr>
            <a:r>
              <a:t>Вывод: финальная модель выбрана по F1-score, потому что задача несбалансирована и важно учитывать и precision, и recall.</a:t>
            </a:r>
          </a:p>
        </p:txBody>
      </p:sp>
    </p:spTree>
    <p:extLst>
      <p:ext uri="{BB962C8B-B14F-4D97-AF65-F5344CB8AC3E}">
        <p14:creationId xmlns:p14="http://schemas.microsoft.com/office/powerpoint/2010/main" val="1348373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272568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>
                <a:solidFill>
                  <a:srgbClr val="433E4D"/>
                </a:solidFill>
                <a:latin typeface="Arial"/>
              </a:rPr>
              <a:t>Качество модели и корректность валидации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ED4AA372-6A96-47DD-805E-C015AA8C3DB6}" type="slidenum">
              <a:rPr lang="ru-RU" smtClean="0"/>
              <a:t>7</a:t>
            </a:fld>
            <a:endParaRPr lang="ru-RU" dirty="0"/>
          </a:p>
        </p:txBody>
      </p:sp>
      <p:sp>
        <p:nvSpPr>
          <p:cNvPr id="125" name="TextBox 124"/>
          <p:cNvSpPr txBox="1"/>
          <p:nvPr/>
        </p:nvSpPr>
        <p:spPr>
          <a:xfrm>
            <a:off x="932688" y="1325880"/>
            <a:ext cx="4389120" cy="1920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33E4C"/>
                </a:solidFill>
              </a:defRPr>
            </a:pPr>
            <a:r>
              <a:t>Схема проверки</a:t>
            </a:r>
            <a:endParaRPr sz="2020" b="1" dirty="0">
              <a:solidFill>
                <a:srgbClr val="433E4D"/>
              </a:solidFill>
              <a:latin typeface="Arial"/>
            </a:endParaRPr>
          </a:p>
          <a:p>
            <a:pPr>
              <a:spcAft>
                <a:spcPts val="400"/>
              </a:spcAft>
              <a:defRPr sz="1600">
                <a:solidFill>
                  <a:srgbClr val="2E2E34"/>
                </a:solidFill>
              </a:defRPr>
            </a:pPr>
            <a:r>
              <a:t>Train/test: 80/20 со stratify по Revenue.</a:t>
            </a:r>
          </a:p>
          <a:p>
            <a:pPr>
              <a:spcAft>
                <a:spcPts val="400"/>
              </a:spcAft>
              <a:defRPr sz="1600">
                <a:solidFill>
                  <a:srgbClr val="2E2E34"/>
                </a:solidFill>
              </a:defRPr>
            </a:pPr>
            <a:r>
              <a:t>Preprocessing обучается только на train внутри Pipeline.</a:t>
            </a:r>
          </a:p>
          <a:p>
            <a:pPr>
              <a:spcAft>
                <a:spcPts val="400"/>
              </a:spcAft>
              <a:defRPr sz="1600">
                <a:solidFill>
                  <a:srgbClr val="2E2E34"/>
                </a:solidFill>
              </a:defRPr>
            </a:pPr>
            <a:r>
              <a:t>Основной критерий выбора: F1-score.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811896" y="1401666"/>
            <a:ext cx="1920240" cy="56692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t>Random Forest Tuned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811896" y="2252058"/>
            <a:ext cx="1920240" cy="658368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t>0.893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811896" y="292871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Accuracy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006456" y="2252058"/>
            <a:ext cx="1920240" cy="65836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t>0.662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006456" y="292871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F1-score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811896" y="3715098"/>
            <a:ext cx="1920240" cy="658368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t>0.923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811896" y="439175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ROC-AUC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0006456" y="3715098"/>
            <a:ext cx="1920240" cy="658368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dirty="0"/>
              <a:t>0.675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006456" y="439175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Recall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919835" y="4767929"/>
            <a:ext cx="1867942" cy="726742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dirty="0" err="1">
                <a:solidFill>
                  <a:schemeClr val="tx1"/>
                </a:solidFill>
              </a:rPr>
              <a:t>Истинно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отрицательный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1944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924937" y="4767929"/>
            <a:ext cx="2027346" cy="726742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dirty="0" err="1">
                <a:solidFill>
                  <a:schemeClr val="tx1"/>
                </a:solidFill>
              </a:rPr>
              <a:t>Ложно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положительный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140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919835" y="5565281"/>
            <a:ext cx="1867942" cy="726742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dirty="0" err="1">
                <a:solidFill>
                  <a:schemeClr val="tx1"/>
                </a:solidFill>
              </a:rPr>
              <a:t>Ложно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отрицательный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124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924937" y="5565281"/>
            <a:ext cx="2027346" cy="726742"/>
          </a:xfrm>
          <a:prstGeom prst="roundRect">
            <a:avLst/>
          </a:prstGeom>
          <a:solidFill>
            <a:srgbClr val="89C400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dirty="0" err="1">
                <a:solidFill>
                  <a:schemeClr val="tx1"/>
                </a:solidFill>
              </a:rPr>
              <a:t>Истинно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положительный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258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BFA6F4-0E02-DD1F-DDDD-943172CA462D}"/>
              </a:ext>
            </a:extLst>
          </p:cNvPr>
          <p:cNvSpPr txBox="1"/>
          <p:nvPr/>
        </p:nvSpPr>
        <p:spPr>
          <a:xfrm>
            <a:off x="3687968" y="4391754"/>
            <a:ext cx="2408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Матрица неточности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65304" y="3125610"/>
            <a:ext cx="3022384" cy="1577040"/>
          </a:xfrm>
          <a:prstGeom prst="rect">
            <a:avLst/>
          </a:prstGeom>
          <a:solidFill>
            <a:srgbClr val="F5F8FA"/>
          </a:solidFill>
          <a:ln w="15240"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408432" y="3190889"/>
            <a:ext cx="3776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rPr dirty="0"/>
              <a:t>Cross-validation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33847" y="3546234"/>
            <a:ext cx="3776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/>
              <a:t>F1 = 0.685 ± 0.016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/>
              <a:t>ROC-AUC = 0.930 ± 0.004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 err="1"/>
              <a:t>Качество</a:t>
            </a:r>
            <a:r>
              <a:rPr dirty="0"/>
              <a:t> </a:t>
            </a:r>
            <a:r>
              <a:rPr dirty="0" err="1"/>
              <a:t>стабильно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разбиениях</a:t>
            </a:r>
            <a:r>
              <a:rPr dirty="0"/>
              <a:t>.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404224" y="4913800"/>
            <a:ext cx="4507992" cy="1440200"/>
          </a:xfrm>
          <a:prstGeom prst="rect">
            <a:avLst/>
          </a:prstGeom>
          <a:solidFill>
            <a:srgbClr val="F5F8FA"/>
          </a:solidFill>
          <a:ln w="1524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550528" y="5023528"/>
            <a:ext cx="4215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t>Переобучение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550528" y="5416720"/>
            <a:ext cx="4215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Train F1 = 0.947, test F1 = 0.673.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Есть признаки переобучения, но test/CV остаются рабочими.</a:t>
            </a:r>
          </a:p>
        </p:txBody>
      </p:sp>
    </p:spTree>
    <p:extLst>
      <p:ext uri="{BB962C8B-B14F-4D97-AF65-F5344CB8AC3E}">
        <p14:creationId xmlns:p14="http://schemas.microsoft.com/office/powerpoint/2010/main" val="4125945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344775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87651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>
                <a:solidFill>
                  <a:srgbClr val="433E4D"/>
                </a:solidFill>
                <a:latin typeface="Arial"/>
              </a:rPr>
              <a:t>Интерпретация результатов и прикладные выводы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ED4AA372-6A96-47DD-805E-C015AA8C3DB6}" type="slidenum">
              <a:rPr lang="ru-RU" smtClean="0"/>
              <a:t>8</a:t>
            </a:fld>
            <a:endParaRPr lang="ru-RU"/>
          </a:p>
        </p:txBody>
      </p:sp>
      <p:pic>
        <p:nvPicPr>
          <p:cNvPr id="125" name="Picture 124" descr="exitrate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" y="1510100"/>
            <a:ext cx="4376478" cy="2895209"/>
          </a:xfrm>
          <a:prstGeom prst="rect">
            <a:avLst/>
          </a:prstGeom>
        </p:spPr>
      </p:pic>
      <p:pic>
        <p:nvPicPr>
          <p:cNvPr id="126" name="Picture 125" descr="bouncerate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371" y="1425780"/>
            <a:ext cx="4522057" cy="2991515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8909082" y="1527623"/>
            <a:ext cx="3291840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33E4C"/>
                </a:solidFill>
                <a:latin typeface="Arial"/>
              </a:defRPr>
            </a:pPr>
            <a:r>
              <a:t>Top feature importance</a:t>
            </a:r>
          </a:p>
          <a:p>
            <a:pPr>
              <a:spcAft>
                <a:spcPts val="400"/>
              </a:spcAft>
              <a:defRPr sz="1600">
                <a:solidFill>
                  <a:srgbClr val="2E2E34"/>
                </a:solidFill>
              </a:defRPr>
            </a:pPr>
            <a:r>
              <a:t>PageValues — 0.239</a:t>
            </a:r>
          </a:p>
          <a:p>
            <a:pPr>
              <a:spcAft>
                <a:spcPts val="400"/>
              </a:spcAft>
              <a:defRPr sz="1600">
                <a:solidFill>
                  <a:srgbClr val="2E2E34"/>
                </a:solidFill>
              </a:defRPr>
            </a:pPr>
            <a:r>
              <a:t>HasPageValue — 0.187</a:t>
            </a:r>
          </a:p>
          <a:p>
            <a:pPr>
              <a:spcAft>
                <a:spcPts val="400"/>
              </a:spcAft>
              <a:defRPr sz="1600">
                <a:solidFill>
                  <a:srgbClr val="2E2E34"/>
                </a:solidFill>
              </a:defRPr>
            </a:pPr>
            <a:r>
              <a:t>ExitRates — 0.059</a:t>
            </a:r>
          </a:p>
          <a:p>
            <a:pPr>
              <a:spcAft>
                <a:spcPts val="400"/>
              </a:spcAft>
              <a:defRPr sz="1600">
                <a:solidFill>
                  <a:srgbClr val="2E2E34"/>
                </a:solidFill>
              </a:defRPr>
            </a:pPr>
            <a:r>
              <a:t>TotalDuration — 0.051</a:t>
            </a:r>
          </a:p>
          <a:p>
            <a:pPr>
              <a:spcAft>
                <a:spcPts val="400"/>
              </a:spcAft>
              <a:defRPr sz="1600">
                <a:solidFill>
                  <a:srgbClr val="2E2E34"/>
                </a:solidFill>
              </a:defRPr>
            </a:pPr>
            <a:r>
              <a:t>ProductRelated_Duration — 0.045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04544" y="4560303"/>
            <a:ext cx="2926080" cy="438912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Анализ ошибок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50264" y="5108944"/>
            <a:ext cx="4206240" cy="914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E2E34"/>
                </a:solidFill>
                <a:latin typeface="Arial"/>
              </a:defRPr>
            </a:pPr>
            <a:r>
              <a:t>False Negative: реальные покупатели, которых модель не нашла.</a:t>
            </a:r>
          </a:p>
          <a:p>
            <a:pPr>
              <a:spcAft>
                <a:spcPts val="400"/>
              </a:spcAft>
              <a:defRPr sz="1500">
                <a:solidFill>
                  <a:srgbClr val="2E2E34"/>
                </a:solidFill>
              </a:defRPr>
            </a:pPr>
            <a:r>
              <a:t>False Positive: лишние маркетинговые действия.</a:t>
            </a:r>
          </a:p>
          <a:p>
            <a:pPr>
              <a:spcAft>
                <a:spcPts val="400"/>
              </a:spcAft>
              <a:defRPr sz="1500">
                <a:solidFill>
                  <a:srgbClr val="2E2E34"/>
                </a:solidFill>
              </a:defRPr>
            </a:pPr>
            <a:r>
              <a:t>Для бизнеса важнее контролировать пропущенные покупки.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379722" y="4450574"/>
            <a:ext cx="2926080" cy="438912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Практический вывод</a:t>
            </a:r>
            <a:endParaRPr sz="1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5425442" y="4999215"/>
            <a:ext cx="4526280" cy="584775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E2E34"/>
                </a:solidFill>
                <a:latin typeface="Arial"/>
              </a:defRPr>
            </a:pPr>
            <a:r>
              <a:rPr dirty="0"/>
              <a:t>Модель </a:t>
            </a:r>
            <a:r>
              <a:rPr dirty="0" err="1"/>
              <a:t>опирается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поведение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: </a:t>
            </a:r>
            <a:r>
              <a:rPr dirty="0" err="1"/>
              <a:t>ценность</a:t>
            </a:r>
            <a:r>
              <a:rPr dirty="0"/>
              <a:t> </a:t>
            </a:r>
            <a:r>
              <a:rPr dirty="0" err="1"/>
              <a:t>страниц</a:t>
            </a:r>
            <a:r>
              <a:rPr dirty="0"/>
              <a:t>, </a:t>
            </a:r>
            <a:r>
              <a:rPr dirty="0" err="1"/>
              <a:t>выходы</a:t>
            </a:r>
            <a:r>
              <a:rPr dirty="0"/>
              <a:t>, </a:t>
            </a:r>
            <a:r>
              <a:rPr dirty="0" err="1"/>
              <a:t>длительность</a:t>
            </a:r>
            <a:r>
              <a:rPr dirty="0"/>
              <a:t> и </a:t>
            </a:r>
            <a:r>
              <a:rPr dirty="0" err="1"/>
              <a:t>активность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товарах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500">
                <a:solidFill>
                  <a:srgbClr val="2E2E34"/>
                </a:solidFill>
              </a:defRPr>
            </a:pPr>
            <a:r>
              <a:rPr dirty="0" err="1"/>
              <a:t>Прогноз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дополнительный</a:t>
            </a:r>
            <a:r>
              <a:rPr dirty="0"/>
              <a:t> </a:t>
            </a:r>
            <a:r>
              <a:rPr dirty="0" err="1"/>
              <a:t>сигнал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персонализации</a:t>
            </a:r>
            <a:r>
              <a:rPr dirty="0"/>
              <a:t>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197520" y="6534719"/>
            <a:ext cx="84124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2E2E34"/>
                </a:solidFill>
              </a:defRPr>
            </a:pPr>
            <a:r>
              <a:rPr dirty="0" err="1"/>
              <a:t>Интерпретация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: </a:t>
            </a:r>
            <a:r>
              <a:rPr dirty="0" err="1"/>
              <a:t>важнее</a:t>
            </a:r>
            <a:r>
              <a:rPr dirty="0"/>
              <a:t> </a:t>
            </a:r>
            <a:r>
              <a:rPr dirty="0" err="1"/>
              <a:t>всего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технические</a:t>
            </a:r>
            <a:r>
              <a:rPr dirty="0"/>
              <a:t> </a:t>
            </a:r>
            <a:r>
              <a:rPr dirty="0" err="1"/>
              <a:t>поля</a:t>
            </a:r>
            <a:r>
              <a:rPr dirty="0"/>
              <a:t>, а </a:t>
            </a: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в </a:t>
            </a:r>
            <a:r>
              <a:rPr dirty="0" err="1"/>
              <a:t>сессии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0540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344775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331646"/>
            <a:ext cx="10524584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>
                <a:solidFill>
                  <a:srgbClr val="433E4D"/>
                </a:solidFill>
                <a:latin typeface="Arial"/>
              </a:rPr>
              <a:t>Использование современных инструментов и сервисов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ED4AA372-6A96-47DD-805E-C015AA8C3DB6}" type="slidenum">
              <a:rPr lang="ru-RU" smtClean="0"/>
              <a:t>9</a:t>
            </a:fld>
            <a:endParaRPr lang="ru-RU"/>
          </a:p>
        </p:txBody>
      </p:sp>
      <p:sp>
        <p:nvSpPr>
          <p:cNvPr id="125" name="Rounded Rectangle 124"/>
          <p:cNvSpPr/>
          <p:nvPr/>
        </p:nvSpPr>
        <p:spPr>
          <a:xfrm>
            <a:off x="914400" y="1325880"/>
            <a:ext cx="2468880" cy="640080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Raw JSON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703320" y="1325880"/>
            <a:ext cx="2468880" cy="640080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Pipeline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492240" y="1325880"/>
            <a:ext cx="2468880" cy="640080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FastAPI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281160" y="1325880"/>
            <a:ext cx="1828800" cy="640080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Docker + Frontend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438144" y="1453896"/>
            <a:ext cx="201168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433E4D"/>
                </a:solidFill>
                <a:latin typeface="Arial"/>
              </a:rPr>
              <a:t>→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27064" y="1453896"/>
            <a:ext cx="201168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433E4D"/>
                </a:solidFill>
                <a:latin typeface="Arial"/>
              </a:rPr>
              <a:t>→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015984" y="1453896"/>
            <a:ext cx="201168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433E4D"/>
                </a:solidFill>
                <a:latin typeface="Arial"/>
              </a:rPr>
              <a:t>→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60120" y="2468880"/>
            <a:ext cx="4663440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33E4C"/>
                </a:solidFill>
              </a:defRPr>
            </a:pPr>
            <a:r>
              <a:t>Инференс</a:t>
            </a:r>
          </a:p>
          <a:p>
            <a:pPr>
              <a:spcAft>
                <a:spcPts val="400"/>
              </a:spcAft>
              <a:defRPr sz="1600">
                <a:solidFill>
                  <a:srgbClr val="2E2E34"/>
                </a:solidFill>
              </a:defRPr>
            </a:pPr>
            <a:r>
              <a:t>Backend endpoint: POST /predict.</a:t>
            </a:r>
          </a:p>
          <a:p>
            <a:pPr>
              <a:spcAft>
                <a:spcPts val="400"/>
              </a:spcAft>
              <a:defRPr sz="1600">
                <a:solidFill>
                  <a:srgbClr val="2E2E34"/>
                </a:solidFill>
              </a:defRPr>
            </a:pPr>
            <a:r>
              <a:t>Модель сохранена как preprocessing + estimator pipeline.</a:t>
            </a:r>
          </a:p>
          <a:p>
            <a:pPr>
              <a:spcAft>
                <a:spcPts val="400"/>
              </a:spcAft>
              <a:defRPr sz="1600">
                <a:solidFill>
                  <a:srgbClr val="2E2E34"/>
                </a:solidFill>
              </a:defRPr>
            </a:pPr>
            <a:r>
              <a:t>API возвращает prediction и purchase_probability.</a:t>
            </a:r>
          </a:p>
          <a:p>
            <a:pPr>
              <a:spcAft>
                <a:spcPts val="400"/>
              </a:spcAft>
              <a:defRPr sz="1600">
                <a:solidFill>
                  <a:srgbClr val="2E2E34"/>
                </a:solidFill>
              </a:defRPr>
            </a:pPr>
            <a:r>
              <a:t>Swagger: http://127.0.0.1:8000/docs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00800" y="2468880"/>
            <a:ext cx="4389120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33E4C"/>
                </a:solidFill>
              </a:defRPr>
            </a:pPr>
            <a:r>
              <a:t>Инструменты</a:t>
            </a:r>
            <a:endParaRPr sz="2000" b="1" dirty="0">
              <a:solidFill>
                <a:srgbClr val="433E4D"/>
              </a:solidFill>
              <a:latin typeface="Arial"/>
            </a:endParaRPr>
          </a:p>
          <a:p>
            <a:pPr>
              <a:spcAft>
                <a:spcPts val="400"/>
              </a:spcAft>
              <a:defRPr sz="1600">
                <a:solidFill>
                  <a:srgbClr val="2E2E34"/>
                </a:solidFill>
              </a:defRPr>
            </a:pPr>
            <a:r>
              <a:t>Google Colab: EDA, обучение, сравнение, интерпретация.</a:t>
            </a:r>
          </a:p>
          <a:p>
            <a:pPr>
              <a:spcAft>
                <a:spcPts val="400"/>
              </a:spcAft>
              <a:defRPr sz="1600">
                <a:solidFill>
                  <a:srgbClr val="2E2E34"/>
                </a:solidFill>
              </a:defRPr>
            </a:pPr>
            <a:r>
              <a:t>FastAPI: REST API для инференса.</a:t>
            </a:r>
          </a:p>
          <a:p>
            <a:pPr>
              <a:spcAft>
                <a:spcPts val="400"/>
              </a:spcAft>
              <a:defRPr sz="1600">
                <a:solidFill>
                  <a:srgbClr val="2E2E34"/>
                </a:solidFill>
              </a:defRPr>
            </a:pPr>
            <a:r>
              <a:t>Docker Compose: backend + frontend одной командой.</a:t>
            </a:r>
          </a:p>
          <a:p>
            <a:pPr>
              <a:spcAft>
                <a:spcPts val="400"/>
              </a:spcAft>
              <a:defRPr sz="1600">
                <a:solidFill>
                  <a:srgbClr val="2E2E34"/>
                </a:solidFill>
              </a:defRPr>
            </a:pPr>
            <a:r>
              <a:t>Frontend: http://127.0.0.1:8080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77824" y="4617720"/>
            <a:ext cx="9052560" cy="914400"/>
          </a:xfrm>
          <a:prstGeom prst="rect">
            <a:avLst/>
          </a:prstGeom>
          <a:solidFill>
            <a:srgbClr val="F5F8FA"/>
          </a:solidFill>
          <a:ln w="1524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024128" y="4727448"/>
            <a:ext cx="8759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t>Запуск демонстрации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24128" y="5120640"/>
            <a:ext cx="8759952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docker compose up --build  →  frontend на :8080, backend на :8000</a:t>
            </a:r>
          </a:p>
        </p:txBody>
      </p:sp>
    </p:spTree>
    <p:extLst>
      <p:ext uri="{BB962C8B-B14F-4D97-AF65-F5344CB8AC3E}">
        <p14:creationId xmlns:p14="http://schemas.microsoft.com/office/powerpoint/2010/main" val="1374095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>
            <a:extLst>
              <a:ext uri="{FF2B5EF4-FFF2-40B4-BE49-F238E27FC236}">
                <a16:creationId xmlns:a16="http://schemas.microsoft.com/office/drawing/2014/main" id="{4FFFD149-2CCD-BAD3-F54B-F66AC2DA380B}"/>
              </a:ext>
            </a:extLst>
          </p:cNvPr>
          <p:cNvSpPr/>
          <p:nvPr/>
        </p:nvSpPr>
        <p:spPr>
          <a:xfrm>
            <a:off x="585216" y="2377440"/>
            <a:ext cx="3200400" cy="2619760"/>
          </a:xfrm>
          <a:prstGeom prst="rect">
            <a:avLst/>
          </a:prstGeom>
          <a:solidFill>
            <a:srgbClr val="F5F8FA"/>
          </a:solidFill>
          <a:ln w="15240"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4C8E8B-B322-E3C1-4B67-4E2E400B3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32656"/>
            <a:ext cx="9865096" cy="635608"/>
          </a:xfrm>
        </p:spPr>
        <p:txBody>
          <a:bodyPr/>
          <a:lstStyle/>
          <a:p>
            <a:r>
              <a:rPr lang="en-US" sz="2800" dirty="0" err="1"/>
              <a:t>MLflow</a:t>
            </a:r>
            <a:r>
              <a:rPr lang="en-US" sz="2800" dirty="0"/>
              <a:t> + </a:t>
            </a:r>
            <a:r>
              <a:rPr lang="en-US" sz="2800" dirty="0" err="1"/>
              <a:t>DagsHub</a:t>
            </a:r>
            <a:r>
              <a:rPr lang="en-US" sz="2800" dirty="0"/>
              <a:t>: </a:t>
            </a:r>
            <a:r>
              <a:rPr lang="ru-RU" sz="2800" dirty="0"/>
              <a:t>управление экспериментами</a:t>
            </a:r>
            <a:br>
              <a:rPr lang="ru-RU" sz="2800" dirty="0"/>
            </a:br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DDAB48-BAE8-0B2E-4FF0-DAB3FA820780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F0B5FAB6-39D5-4FDF-86A9-A6853609F403}" type="slidenum">
              <a:rPr lang="ru-RU" smtClean="0"/>
              <a:t>10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12FAE1-1A9E-C8D8-650A-13DEC0164526}"/>
              </a:ext>
            </a:extLst>
          </p:cNvPr>
          <p:cNvSpPr txBox="1"/>
          <p:nvPr/>
        </p:nvSpPr>
        <p:spPr>
          <a:xfrm>
            <a:off x="877824" y="2487168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t>Что логируется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1576A4-4C97-5E7A-3BB2-396DDBAA71D5}"/>
              </a:ext>
            </a:extLst>
          </p:cNvPr>
          <p:cNvSpPr txBox="1"/>
          <p:nvPr/>
        </p:nvSpPr>
        <p:spPr>
          <a:xfrm>
            <a:off x="877824" y="2907792"/>
            <a:ext cx="290779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Параметры модели и random_state.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Метрики: Accuracy, Precision, Recall, F1, ROC-AUC.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Артефакты: model_comparison.csv, metadata.json, confusion matrix.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Финальный sklearn pipeline.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00CE4187-53D0-9768-FEFF-2ECA529059D6}"/>
              </a:ext>
            </a:extLst>
          </p:cNvPr>
          <p:cNvSpPr/>
          <p:nvPr/>
        </p:nvSpPr>
        <p:spPr>
          <a:xfrm>
            <a:off x="585216" y="1026000"/>
            <a:ext cx="2057400" cy="566928"/>
          </a:xfrm>
          <a:prstGeom prst="rect">
            <a:avLst/>
          </a:prstGeom>
          <a:solidFill>
            <a:srgbClr val="433E4C"/>
          </a:solidFill>
          <a:ln>
            <a:solidFill>
              <a:srgbClr val="43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Обучение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8DA7B0E1-8119-D1C9-82CA-20FA2029E8F3}"/>
              </a:ext>
            </a:extLst>
          </p:cNvPr>
          <p:cNvSpPr/>
          <p:nvPr/>
        </p:nvSpPr>
        <p:spPr>
          <a:xfrm>
            <a:off x="3091072" y="1022128"/>
            <a:ext cx="2057400" cy="566928"/>
          </a:xfrm>
          <a:prstGeom prst="rect">
            <a:avLst/>
          </a:prstGeom>
          <a:solidFill>
            <a:srgbClr val="89C400"/>
          </a:solidFill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MLflow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FD53C720-4D6D-9A91-2AD1-69128664509B}"/>
              </a:ext>
            </a:extLst>
          </p:cNvPr>
          <p:cNvSpPr/>
          <p:nvPr/>
        </p:nvSpPr>
        <p:spPr>
          <a:xfrm>
            <a:off x="5670056" y="1022128"/>
            <a:ext cx="2057400" cy="566928"/>
          </a:xfrm>
          <a:prstGeom prst="rect">
            <a:avLst/>
          </a:prstGeom>
          <a:solidFill>
            <a:srgbClr val="89C400"/>
          </a:solidFill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DagsHub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C5FE13C3-C51C-19B7-1940-4932EB702511}"/>
              </a:ext>
            </a:extLst>
          </p:cNvPr>
          <p:cNvSpPr/>
          <p:nvPr/>
        </p:nvSpPr>
        <p:spPr>
          <a:xfrm>
            <a:off x="8252808" y="1044202"/>
            <a:ext cx="2057400" cy="566928"/>
          </a:xfrm>
          <a:prstGeom prst="rect">
            <a:avLst/>
          </a:prstGeom>
          <a:solidFill>
            <a:srgbClr val="433E4C"/>
          </a:solidFill>
          <a:ln>
            <a:solidFill>
              <a:srgbClr val="43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 err="1"/>
              <a:t>Версии</a:t>
            </a:r>
            <a:r>
              <a:rPr dirty="0"/>
              <a:t> </a:t>
            </a:r>
            <a:r>
              <a:rPr dirty="0" err="1"/>
              <a:t>модели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F18851-6811-900B-B8B1-606E20975992}"/>
              </a:ext>
            </a:extLst>
          </p:cNvPr>
          <p:cNvSpPr txBox="1"/>
          <p:nvPr/>
        </p:nvSpPr>
        <p:spPr>
          <a:xfrm>
            <a:off x="2633872" y="10688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433E4C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87AA99-E332-59BE-825C-AB68B41CB052}"/>
              </a:ext>
            </a:extLst>
          </p:cNvPr>
          <p:cNvSpPr txBox="1"/>
          <p:nvPr/>
        </p:nvSpPr>
        <p:spPr>
          <a:xfrm>
            <a:off x="5176293" y="10688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433E4C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FB0A39-8B95-FA9B-44F2-7F732771E586}"/>
              </a:ext>
            </a:extLst>
          </p:cNvPr>
          <p:cNvSpPr txBox="1"/>
          <p:nvPr/>
        </p:nvSpPr>
        <p:spPr>
          <a:xfrm>
            <a:off x="7741159" y="10917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433E4C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1A031587-3550-1693-4888-431AB91E83FA}"/>
              </a:ext>
            </a:extLst>
          </p:cNvPr>
          <p:cNvSpPr/>
          <p:nvPr/>
        </p:nvSpPr>
        <p:spPr>
          <a:xfrm>
            <a:off x="4297680" y="2377440"/>
            <a:ext cx="3200400" cy="2619760"/>
          </a:xfrm>
          <a:prstGeom prst="rect">
            <a:avLst/>
          </a:prstGeom>
          <a:solidFill>
            <a:srgbClr val="F5F8FA"/>
          </a:solidFill>
          <a:ln w="1524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C52515-1466-8495-1764-E76DE753B7FF}"/>
              </a:ext>
            </a:extLst>
          </p:cNvPr>
          <p:cNvSpPr txBox="1"/>
          <p:nvPr/>
        </p:nvSpPr>
        <p:spPr>
          <a:xfrm>
            <a:off x="4443984" y="2487168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t>Зачем это нужно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F62110-7CE9-5B67-FF9F-43FF2A2B5317}"/>
              </a:ext>
            </a:extLst>
          </p:cNvPr>
          <p:cNvSpPr txBox="1"/>
          <p:nvPr/>
        </p:nvSpPr>
        <p:spPr>
          <a:xfrm>
            <a:off x="4443984" y="2907792"/>
            <a:ext cx="290779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Результаты не теряются после перезапуска Colab.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Можно сравнивать разные версии моделей.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Видно, почему выбрана финальная модель.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Проще воспроизвести эксперимент.</a:t>
            </a: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01123BE2-78E1-2660-D299-BABEDC39AEE2}"/>
              </a:ext>
            </a:extLst>
          </p:cNvPr>
          <p:cNvSpPr/>
          <p:nvPr/>
        </p:nvSpPr>
        <p:spPr>
          <a:xfrm>
            <a:off x="7863840" y="2377440"/>
            <a:ext cx="3200400" cy="2619760"/>
          </a:xfrm>
          <a:prstGeom prst="rect">
            <a:avLst/>
          </a:prstGeom>
          <a:solidFill>
            <a:srgbClr val="F5F8FA"/>
          </a:solidFill>
          <a:ln w="15240"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0BBFCE-66AB-B157-AAA0-90516F1A83C7}"/>
              </a:ext>
            </a:extLst>
          </p:cNvPr>
          <p:cNvSpPr txBox="1"/>
          <p:nvPr/>
        </p:nvSpPr>
        <p:spPr>
          <a:xfrm>
            <a:off x="8010144" y="2487168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rPr dirty="0" err="1"/>
              <a:t>MLOps-эффект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E32329-78BC-F905-4ABA-AA6F20BCC706}"/>
              </a:ext>
            </a:extLst>
          </p:cNvPr>
          <p:cNvSpPr txBox="1"/>
          <p:nvPr/>
        </p:nvSpPr>
        <p:spPr>
          <a:xfrm>
            <a:off x="8010144" y="2907792"/>
            <a:ext cx="290779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 err="1"/>
              <a:t>DagsHub</a:t>
            </a:r>
            <a:r>
              <a:rPr dirty="0"/>
              <a:t> </a:t>
            </a:r>
            <a:r>
              <a:rPr dirty="0" err="1"/>
              <a:t>выступает</a:t>
            </a:r>
            <a:r>
              <a:rPr dirty="0"/>
              <a:t> </a:t>
            </a:r>
            <a:r>
              <a:rPr dirty="0" err="1"/>
              <a:t>удалённым</a:t>
            </a:r>
            <a:r>
              <a:rPr dirty="0"/>
              <a:t> </a:t>
            </a:r>
            <a:r>
              <a:rPr dirty="0" err="1"/>
              <a:t>MLflow</a:t>
            </a:r>
            <a:r>
              <a:rPr dirty="0"/>
              <a:t> Tracking Server.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/>
              <a:t>Фиксируется </a:t>
            </a:r>
            <a:r>
              <a:rPr dirty="0" err="1"/>
              <a:t>жизненный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: </a:t>
            </a:r>
            <a:r>
              <a:rPr dirty="0" err="1"/>
              <a:t>запуск</a:t>
            </a:r>
            <a:r>
              <a:rPr dirty="0"/>
              <a:t>, </a:t>
            </a:r>
            <a:r>
              <a:rPr dirty="0" err="1"/>
              <a:t>метрики</a:t>
            </a:r>
            <a:r>
              <a:rPr dirty="0"/>
              <a:t>, </a:t>
            </a:r>
            <a:r>
              <a:rPr dirty="0" err="1"/>
              <a:t>артефакты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мониторинга</a:t>
            </a:r>
            <a:r>
              <a:rPr dirty="0"/>
              <a:t> и </a:t>
            </a:r>
            <a:r>
              <a:rPr dirty="0" err="1"/>
              <a:t>регулярного</a:t>
            </a:r>
            <a:r>
              <a:rPr dirty="0"/>
              <a:t> </a:t>
            </a:r>
            <a:r>
              <a:rPr dirty="0" err="1"/>
              <a:t>переобучения</a:t>
            </a:r>
            <a:r>
              <a:rPr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5D6F7B-8B32-E889-F712-3B6BBC0AD7D1}"/>
              </a:ext>
            </a:extLst>
          </p:cNvPr>
          <p:cNvSpPr txBox="1"/>
          <p:nvPr/>
        </p:nvSpPr>
        <p:spPr>
          <a:xfrm>
            <a:off x="631336" y="5417317"/>
            <a:ext cx="60944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E2E34"/>
                </a:solidFill>
              </a:defRPr>
            </a:pPr>
            <a:r>
              <a:rPr lang="ru-RU" dirty="0"/>
              <a:t>Вывод: </a:t>
            </a:r>
            <a:r>
              <a:rPr lang="ru-RU" dirty="0" err="1"/>
              <a:t>MLflow</a:t>
            </a:r>
            <a:r>
              <a:rPr lang="ru-RU" dirty="0"/>
              <a:t> + </a:t>
            </a:r>
            <a:r>
              <a:rPr lang="ru-RU" dirty="0" err="1"/>
              <a:t>DagsHub</a:t>
            </a:r>
            <a:r>
              <a:rPr lang="ru-RU" dirty="0"/>
              <a:t> добавляют проекту воспроизводимость и показывают базовый подход к управлению ML-экспериментами.</a:t>
            </a:r>
          </a:p>
        </p:txBody>
      </p:sp>
    </p:spTree>
    <p:extLst>
      <p:ext uri="{BB962C8B-B14F-4D97-AF65-F5344CB8AC3E}">
        <p14:creationId xmlns:p14="http://schemas.microsoft.com/office/powerpoint/2010/main" val="1395136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E499F4-B46E-A99E-EEDE-0BB95DA5221E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F0B5FAB6-39D5-4FDF-86A9-A6853609F403}" type="slidenum">
              <a:rPr lang="ru-RU" smtClean="0"/>
              <a:t>11</a:t>
            </a:fld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AEA8305-BD37-2651-D313-453D833ACC49}"/>
              </a:ext>
            </a:extLst>
          </p:cNvPr>
          <p:cNvSpPr/>
          <p:nvPr/>
        </p:nvSpPr>
        <p:spPr bwMode="auto">
          <a:xfrm>
            <a:off x="608686" y="404664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spcAft>
                <a:spcPts val="400"/>
              </a:spcAft>
              <a:buNone/>
              <a:defRPr sz="2800" b="1">
                <a:solidFill>
                  <a:srgbClr val="433E4C"/>
                </a:solidFill>
              </a:defRPr>
            </a:pPr>
            <a:r>
              <a:rPr dirty="0" err="1"/>
              <a:t>Ограничения</a:t>
            </a:r>
            <a:r>
              <a:rPr dirty="0"/>
              <a:t> и </a:t>
            </a:r>
            <a:r>
              <a:rPr dirty="0" err="1"/>
              <a:t>развитие</a:t>
            </a:r>
            <a:r>
              <a:rPr dirty="0"/>
              <a:t> </a:t>
            </a:r>
            <a:r>
              <a:rPr dirty="0" err="1"/>
              <a:t>проекта</a:t>
            </a:r>
            <a:endParaRPr lang="ru-RU" sz="2800" b="0" strike="noStrike" spc="-1" dirty="0"/>
          </a:p>
        </p:txBody>
      </p:sp>
      <p:sp>
        <p:nvSpPr>
          <p:cNvPr id="6" name="Rectangle 5"/>
          <p:cNvSpPr/>
          <p:nvPr/>
        </p:nvSpPr>
        <p:spPr>
          <a:xfrm>
            <a:off x="713232" y="1298448"/>
            <a:ext cx="3337560" cy="3886200"/>
          </a:xfrm>
          <a:prstGeom prst="rect">
            <a:avLst/>
          </a:prstGeom>
          <a:solidFill>
            <a:srgbClr val="F5F8FA"/>
          </a:solidFill>
          <a:ln w="15240"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408176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t>Ограничения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801368"/>
            <a:ext cx="3044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Данные исторические: поведение пользователей меняется.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Вероятность покупки не гарантирует покупку.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Датасет может отражать сезонность и особенности источников трафика.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298448"/>
            <a:ext cx="3337560" cy="3886200"/>
          </a:xfrm>
          <a:prstGeom prst="rect">
            <a:avLst/>
          </a:prstGeom>
          <a:solidFill>
            <a:srgbClr val="F5F8FA"/>
          </a:solidFill>
          <a:ln w="1524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25696" y="1408176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t>Риски модели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1801368"/>
            <a:ext cx="3044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/>
              <a:t>Random Forest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признаки</a:t>
            </a:r>
            <a:r>
              <a:rPr dirty="0"/>
              <a:t> </a:t>
            </a:r>
            <a:r>
              <a:rPr dirty="0" err="1"/>
              <a:t>переобучения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/>
              <a:t>False Negative —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пропустить</a:t>
            </a:r>
            <a:r>
              <a:rPr dirty="0"/>
              <a:t> </a:t>
            </a:r>
            <a:r>
              <a:rPr dirty="0" err="1"/>
              <a:t>потенциального</a:t>
            </a:r>
            <a:r>
              <a:rPr dirty="0"/>
              <a:t> </a:t>
            </a:r>
            <a:r>
              <a:rPr dirty="0" err="1"/>
              <a:t>покупателя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/>
              <a:t>False Positive —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лишнего</a:t>
            </a:r>
            <a:r>
              <a:rPr dirty="0"/>
              <a:t> </a:t>
            </a:r>
            <a:r>
              <a:rPr dirty="0" err="1"/>
              <a:t>маркетингового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45552" y="1298448"/>
            <a:ext cx="3337560" cy="3886200"/>
          </a:xfrm>
          <a:prstGeom prst="rect">
            <a:avLst/>
          </a:prstGeom>
          <a:solidFill>
            <a:srgbClr val="F5F8FA"/>
          </a:solidFill>
          <a:ln w="15240"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91856" y="1408176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t>Как улучшить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1856" y="1801368"/>
            <a:ext cx="3044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Расширить поиск гиперпараметров.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Подобрать бизнес-порог вероятности.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Добавить мониторинг качества и регулярное переобучение.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Собирать новые данные после изменений сайта.</a:t>
            </a:r>
          </a:p>
        </p:txBody>
      </p:sp>
    </p:spTree>
    <p:extLst>
      <p:ext uri="{BB962C8B-B14F-4D97-AF65-F5344CB8AC3E}">
        <p14:creationId xmlns:p14="http://schemas.microsoft.com/office/powerpoint/2010/main" val="3556231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344775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 dirty="0" err="1">
                <a:solidFill>
                  <a:srgbClr val="433E4D"/>
                </a:solidFill>
                <a:latin typeface="Arial"/>
              </a:rPr>
              <a:t>Результаты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ED4AA372-6A96-47DD-805E-C015AA8C3DB6}" type="slidenum">
              <a:rPr lang="ru-RU" smtClean="0"/>
              <a:t>12</a:t>
            </a:fld>
            <a:endParaRPr lang="ru-RU"/>
          </a:p>
        </p:txBody>
      </p:sp>
      <p:sp>
        <p:nvSpPr>
          <p:cNvPr id="125" name="Rounded Rectangle 124"/>
          <p:cNvSpPr/>
          <p:nvPr/>
        </p:nvSpPr>
        <p:spPr>
          <a:xfrm>
            <a:off x="914400" y="1325880"/>
            <a:ext cx="3657600" cy="658368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Итог проекта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60120" y="2148840"/>
            <a:ext cx="4754880" cy="2286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t>Реализован полный ML-процесс от EDA до веб-демонстрации.</a:t>
            </a:r>
            <a:br/>
            <a:r>
              <a:t>Обучены и сравнены четыре модели.</a:t>
            </a:r>
            <a:br/>
            <a:r>
              <a:t>Лучшая модель — Random Forest Tuned по F1-score.</a:t>
            </a:r>
            <a:br/>
            <a:r>
              <a:t>Backend принимает сырые данные и возвращает вероятность покупки.</a:t>
            </a:r>
            <a:br/>
            <a:r>
              <a:t>Реализован Frontend.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400800" y="1389888"/>
            <a:ext cx="1920240" cy="65836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t>0.6615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400800" y="2066543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F1-score лучшей модели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732520" y="1389888"/>
            <a:ext cx="1920240" cy="658368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t>0.9232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732520" y="2066543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ROC-AUC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400800" y="2926080"/>
            <a:ext cx="1920240" cy="658368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t>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400800" y="3602736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модели обучены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732520" y="2926080"/>
            <a:ext cx="1920240" cy="65836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732520" y="3602736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готовый web demo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800600"/>
            <a:ext cx="4251960" cy="713232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433E4D"/>
                </a:solidFill>
                <a:latin typeface="Arial"/>
              </a:rPr>
              <a:t>Следующий шаг: мониторинг качества и регулярное переобучение на новых сессиях.</a:t>
            </a:r>
          </a:p>
        </p:txBody>
      </p:sp>
    </p:spTree>
    <p:extLst>
      <p:ext uri="{BB962C8B-B14F-4D97-AF65-F5344CB8AC3E}">
        <p14:creationId xmlns:p14="http://schemas.microsoft.com/office/powerpoint/2010/main" val="2685334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3694C8-D472-B2AE-E2A5-6D31625E3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rgbClr val="433E4D"/>
                </a:solidFill>
              </a:rPr>
              <a:t>Результаты</a:t>
            </a:r>
            <a:br>
              <a:rPr lang="ru-RU" spc="-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94F0CE-8512-D4FE-AB49-7E68BDB73AC0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43E3A-5F64-EF94-0CF9-2D9B17D92370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F0B5FAB6-39D5-4FDF-86A9-A6853609F403}" type="slidenum">
              <a:rPr lang="ru-RU" smtClean="0"/>
              <a:t>13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0A6338-2509-038C-E092-93B7CBFAB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577912"/>
            <a:ext cx="6840760" cy="637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605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 idx="4294967295"/>
          </p:nvPr>
        </p:nvSpPr>
        <p:spPr bwMode="auto">
          <a:xfrm>
            <a:off x="1487488" y="3173798"/>
            <a:ext cx="9140400" cy="9848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ru-RU" sz="3200" b="1" spc="-1" dirty="0">
                <a:solidFill>
                  <a:srgbClr val="FFFFFF"/>
                </a:solidFill>
                <a:latin typeface="+mn-lt"/>
              </a:rPr>
              <a:t>Покупательское намерение в интернет-магазине</a:t>
            </a:r>
            <a:endParaRPr lang="ru-RU" sz="3200" b="1" strike="noStrike" spc="-1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PlaceHolder 1"/>
          <p:cNvSpPr txBox="1">
            <a:spLocks/>
          </p:cNvSpPr>
          <p:nvPr/>
        </p:nvSpPr>
        <p:spPr bwMode="auto">
          <a:xfrm>
            <a:off x="1487488" y="4684383"/>
            <a:ext cx="9140400" cy="30777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000" spc="-1" dirty="0">
                <a:solidFill>
                  <a:srgbClr val="FFFFFF"/>
                </a:solidFill>
                <a:latin typeface="+mn-lt"/>
              </a:rPr>
              <a:t>Загиров Матвей Денисович</a:t>
            </a:r>
          </a:p>
        </p:txBody>
      </p:sp>
      <p:sp>
        <p:nvSpPr>
          <p:cNvPr id="4" name="PlaceHolder 1"/>
          <p:cNvSpPr txBox="1">
            <a:spLocks/>
          </p:cNvSpPr>
          <p:nvPr/>
        </p:nvSpPr>
        <p:spPr bwMode="auto">
          <a:xfrm>
            <a:off x="1487488" y="5018582"/>
            <a:ext cx="9140400" cy="21544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1400" i="1" spc="-1" dirty="0">
                <a:solidFill>
                  <a:srgbClr val="FFFFFF"/>
                </a:solidFill>
                <a:latin typeface="+mn-lt"/>
              </a:rPr>
              <a:t>Искусственный интеллект. Алгоритмы машинного обучения на языке </a:t>
            </a:r>
            <a:r>
              <a:rPr lang="ru-RU" sz="1400" i="1" spc="-1" dirty="0" err="1">
                <a:solidFill>
                  <a:srgbClr val="FFFFFF"/>
                </a:solidFill>
                <a:latin typeface="+mn-lt"/>
              </a:rPr>
              <a:t>Python</a:t>
            </a:r>
            <a:endParaRPr lang="ru-RU" sz="1400" i="1" spc="-1" dirty="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4935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</TotalTime>
  <Words>1075</Words>
  <Application>Microsoft Office PowerPoint</Application>
  <DocSecurity>0</DocSecurity>
  <PresentationFormat>Широкоэкранный</PresentationFormat>
  <Paragraphs>226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14</vt:i4>
      </vt:variant>
    </vt:vector>
  </HeadingPairs>
  <TitlesOfParts>
    <vt:vector size="23" baseType="lpstr">
      <vt:lpstr>Arial</vt:lpstr>
      <vt:lpstr>Calibri</vt:lpstr>
      <vt:lpstr>Nekst</vt:lpstr>
      <vt:lpstr>Symbol</vt:lpstr>
      <vt:lpstr>Times New Roman</vt:lpstr>
      <vt:lpstr>Verdana</vt:lpstr>
      <vt:lpstr>Wingdings</vt:lpstr>
      <vt:lpstr>Office Theme</vt:lpstr>
      <vt:lpstr>Office Theme</vt:lpstr>
      <vt:lpstr>Покупательское намерение в интернет-магазине</vt:lpstr>
      <vt:lpstr>Постановка задачи и анализ предметной области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MLflow + DagsHub: управление экспериментами </vt:lpstr>
      <vt:lpstr>Презентация PowerPoint</vt:lpstr>
      <vt:lpstr>Презентация PowerPoint</vt:lpstr>
      <vt:lpstr>Результаты </vt:lpstr>
      <vt:lpstr>Покупательское намерение в интернет-магазине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Анастасия Г. Козлова</dc:creator>
  <cp:keywords/>
  <dc:description/>
  <cp:lastModifiedBy>Матвей Загиров</cp:lastModifiedBy>
  <cp:revision>105</cp:revision>
  <dcterms:created xsi:type="dcterms:W3CDTF">2023-08-24T08:06:00Z</dcterms:created>
  <dcterms:modified xsi:type="dcterms:W3CDTF">2026-05-18T12:39:52Z</dcterms:modified>
  <cp:category/>
  <dc:identifier/>
  <cp:contentStatus/>
  <dc:language>ru-RU</dc:language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4</vt:i4>
  </property>
</Properties>
</file>